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468880"/>
            <a:ext cx="137160" cy="137160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972800" cy="822960"/>
          </a:xfrm>
          <a:prstGeom prst="rect">
            <a:avLst/>
          </a:prstGeom>
          <a:noFill/>
        </p:spPr>
        <p:txBody>
          <a:bodyPr wrap="square" lIns="45720" rIns="45720">
            <a:spAutoFit/>
          </a:bodyPr>
          <a:lstStyle/>
          <a:p>
            <a:pPr algn="l"/>
            <a:r>
              <a:rPr sz="4400" b="1">
                <a:solidFill>
                  <a:srgbClr val="E8ECF1"/>
                </a:solidFill>
                <a:latin typeface="Calibri"/>
              </a:rPr>
              <a:t>Claude Dev Evaluation</a:t>
            </a:r>
          </a:p>
        </p:txBody>
      </p:sp>
      <p:sp>
        <p:nvSpPr>
          <p:cNvPr id="5" name="TextBox 4"/>
          <p:cNvSpPr txBox="1"/>
          <p:nvPr/>
        </p:nvSpPr>
        <p:spPr>
          <a:xfrm>
            <a:off x="731520" y="3108960"/>
            <a:ext cx="10972800" cy="640080"/>
          </a:xfrm>
          <a:prstGeom prst="rect">
            <a:avLst/>
          </a:prstGeom>
          <a:noFill/>
        </p:spPr>
        <p:txBody>
          <a:bodyPr wrap="square" lIns="45720" rIns="45720">
            <a:spAutoFit/>
          </a:bodyPr>
          <a:lstStyle/>
          <a:p>
            <a:pPr algn="l"/>
            <a:r>
              <a:rPr sz="2800" b="0">
                <a:solidFill>
                  <a:srgbClr val="4EC5C1"/>
                </a:solidFill>
                <a:latin typeface="Calibri"/>
              </a:rPr>
              <a:t>Automated visual-regression loop</a:t>
            </a:r>
          </a:p>
        </p:txBody>
      </p:sp>
      <p:sp>
        <p:nvSpPr>
          <p:cNvPr id="6" name="TextBox 5"/>
          <p:cNvSpPr txBox="1"/>
          <p:nvPr/>
        </p:nvSpPr>
        <p:spPr>
          <a:xfrm>
            <a:off x="731520" y="3931920"/>
            <a:ext cx="10972800" cy="365760"/>
          </a:xfrm>
          <a:prstGeom prst="rect">
            <a:avLst/>
          </a:prstGeom>
          <a:noFill/>
        </p:spPr>
        <p:txBody>
          <a:bodyPr wrap="square" lIns="45720" rIns="45720">
            <a:spAutoFit/>
          </a:bodyPr>
          <a:lstStyle/>
          <a:p>
            <a:pPr algn="l"/>
            <a:r>
              <a:rPr sz="1600" b="0">
                <a:solidFill>
                  <a:srgbClr val="A6AEBA"/>
                </a:solidFill>
                <a:latin typeface="Courier New"/>
              </a:rPr>
              <a:t>warhammer-40k-godot</a:t>
            </a:r>
          </a:p>
        </p:txBody>
      </p:sp>
      <p:sp>
        <p:nvSpPr>
          <p:cNvPr id="7" name="TextBox 6"/>
          <p:cNvSpPr txBox="1"/>
          <p:nvPr/>
        </p:nvSpPr>
        <p:spPr>
          <a:xfrm>
            <a:off x="731520" y="5852160"/>
            <a:ext cx="10972800" cy="365760"/>
          </a:xfrm>
          <a:prstGeom prst="rect">
            <a:avLst/>
          </a:prstGeom>
          <a:noFill/>
        </p:spPr>
        <p:txBody>
          <a:bodyPr wrap="square" lIns="45720" rIns="45720">
            <a:spAutoFit/>
          </a:bodyPr>
          <a:lstStyle/>
          <a:p>
            <a:pPr algn="l"/>
            <a:r>
              <a:rPr sz="1400" b="0">
                <a:solidFill>
                  <a:srgbClr val="A6AEBA"/>
                </a:solidFill>
                <a:latin typeface="Calibri"/>
              </a:rPr>
              <a:t>Built across 7 phases · Validated against 25 scenarios · 35-iteration sweep</a:t>
            </a:r>
          </a:p>
        </p:txBody>
      </p:sp>
      <p:sp>
        <p:nvSpPr>
          <p:cNvPr id="8" name="TextBox 7"/>
          <p:cNvSpPr txBox="1"/>
          <p:nvPr/>
        </p:nvSpPr>
        <p:spPr>
          <a:xfrm>
            <a:off x="731520" y="6217920"/>
            <a:ext cx="10972800" cy="274320"/>
          </a:xfrm>
          <a:prstGeom prst="rect">
            <a:avLst/>
          </a:prstGeom>
          <a:noFill/>
        </p:spPr>
        <p:txBody>
          <a:bodyPr wrap="square" lIns="45720" rIns="45720">
            <a:spAutoFit/>
          </a:bodyPr>
          <a:lstStyle/>
          <a:p>
            <a:pPr algn="l"/>
            <a:r>
              <a:rPr sz="1200" b="0">
                <a:solidFill>
                  <a:srgbClr val="A6AEBA"/>
                </a:solidFill>
                <a:latin typeface="Calibri"/>
              </a:rPr>
              <a:t>2026-05-19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TL;DR</a:t>
            </a:r>
          </a:p>
        </p:txBody>
      </p:sp>
      <p:sp>
        <p:nvSpPr>
          <p:cNvPr id="5" name="TextBox 4"/>
          <p:cNvSpPr txBox="1"/>
          <p:nvPr/>
        </p:nvSpPr>
        <p:spPr>
          <a:xfrm>
            <a:off x="731520" y="1463040"/>
            <a:ext cx="10972800" cy="4572000"/>
          </a:xfrm>
          <a:prstGeom prst="rect">
            <a:avLst/>
          </a:prstGeom>
          <a:noFill/>
        </p:spPr>
        <p:txBody>
          <a:bodyPr wrap="square">
            <a:spAutoFit/>
          </a:bodyPr>
          <a:lstStyle/>
          <a:p>
            <a:pPr algn="l">
              <a:spcAft>
                <a:spcPts val="600"/>
              </a:spcAft>
            </a:pPr>
            <a:r>
              <a:rPr sz="1600" b="0">
                <a:solidFill>
                  <a:srgbClr val="E8ECF1"/>
                </a:solidFill>
                <a:latin typeface="Calibri"/>
              </a:rPr>
              <a:t>•  Built an automated loop: run windowed scenario → diff against visual goldens → critic agent triages drift → fixer agent proposes patches.</a:t>
            </a:r>
          </a:p>
          <a:p>
            <a:pPr algn="l">
              <a:spcAft>
                <a:spcPts val="600"/>
              </a:spcAft>
            </a:pPr>
            <a:r>
              <a:rPr sz="1600" b="0">
                <a:solidFill>
                  <a:srgbClr val="E8ECF1"/>
                </a:solidFill>
                <a:latin typeface="Calibri"/>
              </a:rPr>
              <a:t>•  Delivered in 7 incremental phases on stacked branches. Each phase is a landable unit; later phases can be reverted without breaking earlier ones.</a:t>
            </a:r>
          </a:p>
          <a:p>
            <a:pPr algn="l">
              <a:spcAft>
                <a:spcPts val="600"/>
              </a:spcAft>
            </a:pPr>
            <a:r>
              <a:rPr sz="1600" b="0">
                <a:solidFill>
                  <a:srgbClr val="E8ECF1"/>
                </a:solidFill>
                <a:latin typeface="Calibri"/>
              </a:rPr>
              <a:t>•  Validated mechanics against full 25-scenario library via a 35-iteration sweep — found and fixed 5 real infrastructure bugs.</a:t>
            </a:r>
          </a:p>
          <a:p>
            <a:pPr algn="l">
              <a:spcAft>
                <a:spcPts val="600"/>
              </a:spcAft>
            </a:pPr>
            <a:r>
              <a:rPr sz="1600" b="1">
                <a:solidFill>
                  <a:srgbClr val="4EC5C1"/>
                </a:solidFill>
                <a:latin typeface="Calibri"/>
              </a:rPr>
              <a:t>•  Surfaced 3 pre-existing scenario reds that headless tests had missed. All three fixed; each was a distinct, real bug — not a flake.</a:t>
            </a:r>
          </a:p>
          <a:p>
            <a:pPr algn="l">
              <a:spcAft>
                <a:spcPts val="600"/>
              </a:spcAft>
            </a:pPr>
            <a:r>
              <a:rPr sz="1600" b="1">
                <a:solidFill>
                  <a:srgbClr val="E8B44D"/>
                </a:solidFill>
                <a:latin typeface="Calibri"/>
              </a:rPr>
              <a:t>•  Loop mechanics are validated. End-to-end fixer → merge against a REAL regression is not yet validated — needs a real UI-changing PR to test against.</a:t>
            </a:r>
          </a:p>
        </p:txBody>
      </p:sp>
      <p:sp>
        <p:nvSpPr>
          <p:cNvPr id="6" name="TextBox 5"/>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2 / 14</a:t>
            </a:r>
          </a:p>
        </p:txBody>
      </p:sp>
      <p:sp>
        <p:nvSpPr>
          <p:cNvPr id="7" name="TextBox 6"/>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What I was asked to do</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Infrastructure that lets a Claude cloud session detect UI regressions automatically</a:t>
            </a:r>
          </a:p>
        </p:txBody>
      </p:sp>
      <p:sp>
        <p:nvSpPr>
          <p:cNvPr id="6" name="TextBox 5"/>
          <p:cNvSpPr txBox="1"/>
          <p:nvPr/>
        </p:nvSpPr>
        <p:spPr>
          <a:xfrm>
            <a:off x="731520" y="1554480"/>
            <a:ext cx="10972800" cy="4572000"/>
          </a:xfrm>
          <a:prstGeom prst="rect">
            <a:avLst/>
          </a:prstGeom>
          <a:noFill/>
        </p:spPr>
        <p:txBody>
          <a:bodyPr wrap="square">
            <a:spAutoFit/>
          </a:bodyPr>
          <a:lstStyle/>
          <a:p>
            <a:pPr algn="l">
              <a:spcAft>
                <a:spcPts val="600"/>
              </a:spcAft>
            </a:pPr>
            <a:r>
              <a:rPr sz="1800" b="0">
                <a:solidFill>
                  <a:srgbClr val="E8ECF1"/>
                </a:solidFill>
                <a:latin typeface="Calibri"/>
              </a:rPr>
              <a:t>•  Run a Godot scenario windowed under xvfb</a:t>
            </a:r>
          </a:p>
          <a:p>
            <a:pPr algn="l">
              <a:spcAft>
                <a:spcPts val="600"/>
              </a:spcAft>
            </a:pPr>
            <a:r>
              <a:rPr sz="1800" b="0">
                <a:solidFill>
                  <a:srgbClr val="E8ECF1"/>
                </a:solidFill>
                <a:latin typeface="Calibri"/>
              </a:rPr>
              <a:t>•  Capture a screenshot after every step (not just on failure)</a:t>
            </a:r>
          </a:p>
          <a:p>
            <a:pPr algn="l">
              <a:spcAft>
                <a:spcPts val="600"/>
              </a:spcAft>
            </a:pPr>
            <a:r>
              <a:rPr sz="1800" b="0">
                <a:solidFill>
                  <a:srgbClr val="E8ECF1"/>
                </a:solidFill>
                <a:latin typeface="Calibri"/>
              </a:rPr>
              <a:t>•  Diff each screenshot against a blessed "golden" reference image</a:t>
            </a:r>
          </a:p>
          <a:p>
            <a:pPr algn="l">
              <a:spcAft>
                <a:spcPts val="600"/>
              </a:spcAft>
            </a:pPr>
            <a:r>
              <a:rPr sz="1800" b="0">
                <a:solidFill>
                  <a:srgbClr val="E8ECF1"/>
                </a:solidFill>
                <a:latin typeface="Calibri"/>
              </a:rPr>
              <a:t>•  On drift, hand the manifest + screenshots to a critic agent for triage</a:t>
            </a:r>
          </a:p>
          <a:p>
            <a:pPr algn="l">
              <a:spcAft>
                <a:spcPts val="600"/>
              </a:spcAft>
            </a:pPr>
            <a:r>
              <a:rPr sz="1800" b="0">
                <a:solidFill>
                  <a:srgbClr val="E8ECF1"/>
                </a:solidFill>
                <a:latin typeface="Calibri"/>
              </a:rPr>
              <a:t>•  On real-regression verdict, hand to a fixer agent that proposes a patch</a:t>
            </a:r>
          </a:p>
          <a:p>
            <a:pPr algn="l">
              <a:spcAft>
                <a:spcPts val="600"/>
              </a:spcAft>
            </a:pPr>
            <a:r>
              <a:rPr sz="1800" b="0">
                <a:solidFill>
                  <a:srgbClr val="E8ECF1"/>
                </a:solidFill>
                <a:latin typeface="Calibri"/>
              </a:rPr>
              <a:t>•  Make all of this safe enough to run unattended</a:t>
            </a:r>
          </a:p>
        </p:txBody>
      </p:sp>
      <p:sp>
        <p:nvSpPr>
          <p:cNvPr id="7" name="TextBox 6"/>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3 / 14</a:t>
            </a:r>
          </a:p>
        </p:txBody>
      </p:sp>
      <p:sp>
        <p:nvSpPr>
          <p:cNvPr id="8" name="TextBox 7"/>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Architecture</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Per-scenario state machine, driven from a cloud session</a:t>
            </a:r>
          </a:p>
        </p:txBody>
      </p:sp>
      <p:sp>
        <p:nvSpPr>
          <p:cNvPr id="6" name="Rounded Rectangle 5"/>
          <p:cNvSpPr/>
          <p:nvPr/>
        </p:nvSpPr>
        <p:spPr>
          <a:xfrm>
            <a:off x="731520" y="2011680"/>
            <a:ext cx="2011680" cy="640080"/>
          </a:xfrm>
          <a:prstGeom prst="round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Scenario JSON</a:t>
            </a:r>
          </a:p>
        </p:txBody>
      </p:sp>
      <p:cxnSp>
        <p:nvCxnSpPr>
          <p:cNvPr id="7" name="Connector 6"/>
          <p:cNvCxnSpPr/>
          <p:nvPr/>
        </p:nvCxnSpPr>
        <p:spPr>
          <a:xfrm>
            <a:off x="2743200" y="2331720"/>
            <a:ext cx="548640" cy="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291840" y="2011680"/>
            <a:ext cx="2377440" cy="640080"/>
          </a:xfrm>
          <a:prstGeom prst="round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ScenarioRunner
(windowed Godot)</a:t>
            </a:r>
          </a:p>
        </p:txBody>
      </p:sp>
      <p:cxnSp>
        <p:nvCxnSpPr>
          <p:cNvPr id="9" name="Connector 8"/>
          <p:cNvCxnSpPr/>
          <p:nvPr/>
        </p:nvCxnSpPr>
        <p:spPr>
          <a:xfrm>
            <a:off x="5669280" y="2331720"/>
            <a:ext cx="548640" cy="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17920" y="2011680"/>
            <a:ext cx="2377440" cy="640080"/>
          </a:xfrm>
          <a:prstGeom prst="round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Per-step
screenshots (PNGs)</a:t>
            </a:r>
          </a:p>
        </p:txBody>
      </p:sp>
      <p:cxnSp>
        <p:nvCxnSpPr>
          <p:cNvPr id="11" name="Connector 10"/>
          <p:cNvCxnSpPr/>
          <p:nvPr/>
        </p:nvCxnSpPr>
        <p:spPr>
          <a:xfrm>
            <a:off x="8595360" y="2331720"/>
            <a:ext cx="548640" cy="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44000" y="2011680"/>
            <a:ext cx="2377440" cy="640080"/>
          </a:xfrm>
          <a:prstGeom prst="round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Goldens
(blessed baseline)</a:t>
            </a:r>
          </a:p>
        </p:txBody>
      </p:sp>
      <p:cxnSp>
        <p:nvCxnSpPr>
          <p:cNvPr id="13" name="Connector 12"/>
          <p:cNvCxnSpPr/>
          <p:nvPr/>
        </p:nvCxnSpPr>
        <p:spPr>
          <a:xfrm>
            <a:off x="7406640" y="2651760"/>
            <a:ext cx="0" cy="73152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43600" y="3383280"/>
            <a:ext cx="3017520" cy="640080"/>
          </a:xfrm>
          <a:prstGeom prst="roundRect">
            <a:avLst/>
          </a:prstGeom>
          <a:solidFill>
            <a:srgbClr val="E8B44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golden_diff.py (PHASH, threshold)</a:t>
            </a:r>
          </a:p>
        </p:txBody>
      </p:sp>
      <p:cxnSp>
        <p:nvCxnSpPr>
          <p:cNvPr id="15" name="Connector 14"/>
          <p:cNvCxnSpPr/>
          <p:nvPr/>
        </p:nvCxnSpPr>
        <p:spPr>
          <a:xfrm>
            <a:off x="7406640" y="4023360"/>
            <a:ext cx="0" cy="45720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0" y="4480560"/>
            <a:ext cx="3931920" cy="640080"/>
          </a:xfrm>
          <a:prstGeom prst="round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Critic Agent (Claude subagent)</a:t>
            </a:r>
          </a:p>
        </p:txBody>
      </p:sp>
      <p:cxnSp>
        <p:nvCxnSpPr>
          <p:cNvPr id="17" name="Connector 16"/>
          <p:cNvCxnSpPr/>
          <p:nvPr/>
        </p:nvCxnSpPr>
        <p:spPr>
          <a:xfrm>
            <a:off x="7406640" y="5120640"/>
            <a:ext cx="0" cy="457200"/>
          </a:xfrm>
          <a:prstGeom prst="bentConnector3">
            <a:avLst/>
          </a:prstGeom>
          <a:ln w="19050">
            <a:solidFill>
              <a:srgbClr val="A6AE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0" y="5577840"/>
            <a:ext cx="10972800" cy="457200"/>
          </a:xfrm>
          <a:prstGeom prst="rect">
            <a:avLst/>
          </a:prstGeom>
          <a:noFill/>
        </p:spPr>
        <p:txBody>
          <a:bodyPr wrap="square" lIns="45720" rIns="45720">
            <a:spAutoFit/>
          </a:bodyPr>
          <a:lstStyle/>
          <a:p>
            <a:pPr algn="ctr"/>
            <a:r>
              <a:rPr sz="1300" b="0">
                <a:solidFill>
                  <a:srgbClr val="E8ECF1"/>
                </a:solidFill>
                <a:latin typeface="Calibri"/>
              </a:rPr>
              <a:t>Verdicts:  real_regression  ·  intentional_change_needs_bless  ·  flake_rerun  ·  scenario_bug</a:t>
            </a:r>
          </a:p>
        </p:txBody>
      </p:sp>
      <p:sp>
        <p:nvSpPr>
          <p:cNvPr id="19" name="Rounded Rectangle 18"/>
          <p:cNvSpPr/>
          <p:nvPr/>
        </p:nvSpPr>
        <p:spPr>
          <a:xfrm>
            <a:off x="731520" y="4480560"/>
            <a:ext cx="3840480" cy="640080"/>
          </a:xfrm>
          <a:prstGeom prst="roundRect">
            <a:avLst/>
          </a:prstGeom>
          <a:solidFill>
            <a:srgbClr val="E56E6E"/>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B222E"/>
                </a:solidFill>
                <a:latin typeface="Calibri"/>
              </a:rPr>
              <a:t>Fixer Agent
→ pre-commit-loop guardrails</a:t>
            </a:r>
          </a:p>
        </p:txBody>
      </p:sp>
      <p:sp>
        <p:nvSpPr>
          <p:cNvPr id="20" name="TextBox 19"/>
          <p:cNvSpPr txBox="1"/>
          <p:nvPr/>
        </p:nvSpPr>
        <p:spPr>
          <a:xfrm>
            <a:off x="731520" y="5212080"/>
            <a:ext cx="3840480" cy="457200"/>
          </a:xfrm>
          <a:prstGeom prst="rect">
            <a:avLst/>
          </a:prstGeom>
          <a:noFill/>
        </p:spPr>
        <p:txBody>
          <a:bodyPr wrap="square" lIns="45720" rIns="45720">
            <a:spAutoFit/>
          </a:bodyPr>
          <a:lstStyle/>
          <a:p>
            <a:pPr algn="ctr"/>
            <a:r>
              <a:rPr sz="1000" b="0">
                <a:solidFill>
                  <a:srgbClr val="A6AEBA"/>
                </a:solidFill>
                <a:latin typeface="Calibri"/>
              </a:rPr>
              <a:t>(scenarios immutable, no megadiff,
mandatory justification)</a:t>
            </a:r>
          </a:p>
        </p:txBody>
      </p:sp>
      <p:sp>
        <p:nvSpPr>
          <p:cNvPr id="21" name="TextBox 20"/>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4 / 14</a:t>
            </a:r>
          </a:p>
        </p:txBody>
      </p:sp>
      <p:sp>
        <p:nvSpPr>
          <p:cNvPr id="22" name="TextBox 21"/>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What I built — 7 phases on stacked branches</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Each phase is independently landable and individually testable</a:t>
            </a:r>
          </a:p>
        </p:txBody>
      </p:sp>
      <p:sp>
        <p:nvSpPr>
          <p:cNvPr id="6" name="TextBox 5"/>
          <p:cNvSpPr txBox="1"/>
          <p:nvPr/>
        </p:nvSpPr>
        <p:spPr>
          <a:xfrm>
            <a:off x="731520" y="1554480"/>
            <a:ext cx="1280160" cy="365760"/>
          </a:xfrm>
          <a:prstGeom prst="rect">
            <a:avLst/>
          </a:prstGeom>
          <a:noFill/>
        </p:spPr>
        <p:txBody>
          <a:bodyPr wrap="square" lIns="45720" rIns="45720">
            <a:spAutoFit/>
          </a:bodyPr>
          <a:lstStyle/>
          <a:p>
            <a:pPr algn="l"/>
            <a:r>
              <a:rPr sz="1400" b="1">
                <a:solidFill>
                  <a:srgbClr val="4EC5C1"/>
                </a:solidFill>
                <a:latin typeface="Courier New"/>
              </a:rPr>
              <a:t>Phase 1</a:t>
            </a:r>
          </a:p>
        </p:txBody>
      </p:sp>
      <p:sp>
        <p:nvSpPr>
          <p:cNvPr id="7" name="TextBox 6"/>
          <p:cNvSpPr txBox="1"/>
          <p:nvPr/>
        </p:nvSpPr>
        <p:spPr>
          <a:xfrm>
            <a:off x="2194560" y="1554480"/>
            <a:ext cx="5029200" cy="365760"/>
          </a:xfrm>
          <a:prstGeom prst="rect">
            <a:avLst/>
          </a:prstGeom>
          <a:noFill/>
        </p:spPr>
        <p:txBody>
          <a:bodyPr wrap="square" lIns="45720" rIns="45720">
            <a:spAutoFit/>
          </a:bodyPr>
          <a:lstStyle/>
          <a:p>
            <a:pPr algn="l"/>
            <a:r>
              <a:rPr sz="1400" b="0">
                <a:solidFill>
                  <a:srgbClr val="E8ECF1"/>
                </a:solidFill>
                <a:latin typeface="Calibri"/>
              </a:rPr>
              <a:t>Per-step screenshots, driver, stub critic</a:t>
            </a:r>
          </a:p>
        </p:txBody>
      </p:sp>
      <p:sp>
        <p:nvSpPr>
          <p:cNvPr id="8" name="TextBox 7"/>
          <p:cNvSpPr txBox="1"/>
          <p:nvPr/>
        </p:nvSpPr>
        <p:spPr>
          <a:xfrm>
            <a:off x="7315200" y="1554480"/>
            <a:ext cx="4572000" cy="365760"/>
          </a:xfrm>
          <a:prstGeom prst="rect">
            <a:avLst/>
          </a:prstGeom>
          <a:noFill/>
        </p:spPr>
        <p:txBody>
          <a:bodyPr wrap="square" lIns="45720" rIns="45720">
            <a:spAutoFit/>
          </a:bodyPr>
          <a:lstStyle/>
          <a:p>
            <a:pPr algn="l"/>
            <a:r>
              <a:rPr sz="1300" b="0">
                <a:solidFill>
                  <a:srgbClr val="A6AEBA"/>
                </a:solidFill>
                <a:latin typeface="Calibri"/>
              </a:rPr>
              <a:t>Smallest end-to-end vertical slice</a:t>
            </a:r>
          </a:p>
        </p:txBody>
      </p:sp>
      <p:sp>
        <p:nvSpPr>
          <p:cNvPr id="9" name="TextBox 8"/>
          <p:cNvSpPr txBox="1"/>
          <p:nvPr/>
        </p:nvSpPr>
        <p:spPr>
          <a:xfrm>
            <a:off x="731520" y="2057400"/>
            <a:ext cx="1280160" cy="365760"/>
          </a:xfrm>
          <a:prstGeom prst="rect">
            <a:avLst/>
          </a:prstGeom>
          <a:noFill/>
        </p:spPr>
        <p:txBody>
          <a:bodyPr wrap="square" lIns="45720" rIns="45720">
            <a:spAutoFit/>
          </a:bodyPr>
          <a:lstStyle/>
          <a:p>
            <a:pPr algn="l"/>
            <a:r>
              <a:rPr sz="1400" b="1">
                <a:solidFill>
                  <a:srgbClr val="4EC5C1"/>
                </a:solidFill>
                <a:latin typeface="Courier New"/>
              </a:rPr>
              <a:t>Phase 2</a:t>
            </a:r>
          </a:p>
        </p:txBody>
      </p:sp>
      <p:sp>
        <p:nvSpPr>
          <p:cNvPr id="10" name="TextBox 9"/>
          <p:cNvSpPr txBox="1"/>
          <p:nvPr/>
        </p:nvSpPr>
        <p:spPr>
          <a:xfrm>
            <a:off x="2194560" y="2057400"/>
            <a:ext cx="5029200" cy="365760"/>
          </a:xfrm>
          <a:prstGeom prst="rect">
            <a:avLst/>
          </a:prstGeom>
          <a:noFill/>
        </p:spPr>
        <p:txBody>
          <a:bodyPr wrap="square" lIns="45720" rIns="45720">
            <a:spAutoFit/>
          </a:bodyPr>
          <a:lstStyle/>
          <a:p>
            <a:pPr algn="l"/>
            <a:r>
              <a:rPr sz="1400" b="0">
                <a:solidFill>
                  <a:srgbClr val="E8ECF1"/>
                </a:solidFill>
                <a:latin typeface="Calibri"/>
              </a:rPr>
              <a:t>Golden PHASH diff + per-scenario thresholds</a:t>
            </a:r>
          </a:p>
        </p:txBody>
      </p:sp>
      <p:sp>
        <p:nvSpPr>
          <p:cNvPr id="11" name="TextBox 10"/>
          <p:cNvSpPr txBox="1"/>
          <p:nvPr/>
        </p:nvSpPr>
        <p:spPr>
          <a:xfrm>
            <a:off x="7315200" y="2057400"/>
            <a:ext cx="4572000" cy="365760"/>
          </a:xfrm>
          <a:prstGeom prst="rect">
            <a:avLst/>
          </a:prstGeom>
          <a:noFill/>
        </p:spPr>
        <p:txBody>
          <a:bodyPr wrap="square" lIns="45720" rIns="45720">
            <a:spAutoFit/>
          </a:bodyPr>
          <a:lstStyle/>
          <a:p>
            <a:pPr algn="l"/>
            <a:r>
              <a:rPr sz="1300" b="0">
                <a:solidFill>
                  <a:srgbClr val="A6AEBA"/>
                </a:solidFill>
                <a:latin typeface="Calibri"/>
              </a:rPr>
              <a:t>Turns "did it finish" into "did UI drift"</a:t>
            </a:r>
          </a:p>
        </p:txBody>
      </p:sp>
      <p:sp>
        <p:nvSpPr>
          <p:cNvPr id="12" name="TextBox 11"/>
          <p:cNvSpPr txBox="1"/>
          <p:nvPr/>
        </p:nvSpPr>
        <p:spPr>
          <a:xfrm>
            <a:off x="731520" y="2560320"/>
            <a:ext cx="1280160" cy="365760"/>
          </a:xfrm>
          <a:prstGeom prst="rect">
            <a:avLst/>
          </a:prstGeom>
          <a:noFill/>
        </p:spPr>
        <p:txBody>
          <a:bodyPr wrap="square" lIns="45720" rIns="45720">
            <a:spAutoFit/>
          </a:bodyPr>
          <a:lstStyle/>
          <a:p>
            <a:pPr algn="l"/>
            <a:r>
              <a:rPr sz="1400" b="1">
                <a:solidFill>
                  <a:srgbClr val="4EC5C1"/>
                </a:solidFill>
                <a:latin typeface="Courier New"/>
              </a:rPr>
              <a:t>Phase 3</a:t>
            </a:r>
          </a:p>
        </p:txBody>
      </p:sp>
      <p:sp>
        <p:nvSpPr>
          <p:cNvPr id="13" name="TextBox 12"/>
          <p:cNvSpPr txBox="1"/>
          <p:nvPr/>
        </p:nvSpPr>
        <p:spPr>
          <a:xfrm>
            <a:off x="2194560" y="2560320"/>
            <a:ext cx="5029200" cy="365760"/>
          </a:xfrm>
          <a:prstGeom prst="rect">
            <a:avLst/>
          </a:prstGeom>
          <a:noFill/>
        </p:spPr>
        <p:txBody>
          <a:bodyPr wrap="square" lIns="45720" rIns="45720">
            <a:spAutoFit/>
          </a:bodyPr>
          <a:lstStyle/>
          <a:p>
            <a:pPr algn="l"/>
            <a:r>
              <a:rPr sz="1400" b="0">
                <a:solidFill>
                  <a:srgbClr val="E8ECF1"/>
                </a:solidFill>
                <a:latin typeface="Calibri"/>
              </a:rPr>
              <a:t>Selector preflight + determinism check</a:t>
            </a:r>
          </a:p>
        </p:txBody>
      </p:sp>
      <p:sp>
        <p:nvSpPr>
          <p:cNvPr id="14" name="TextBox 13"/>
          <p:cNvSpPr txBox="1"/>
          <p:nvPr/>
        </p:nvSpPr>
        <p:spPr>
          <a:xfrm>
            <a:off x="7315200" y="2560320"/>
            <a:ext cx="4572000" cy="365760"/>
          </a:xfrm>
          <a:prstGeom prst="rect">
            <a:avLst/>
          </a:prstGeom>
          <a:noFill/>
        </p:spPr>
        <p:txBody>
          <a:bodyPr wrap="square" lIns="45720" rIns="45720">
            <a:spAutoFit/>
          </a:bodyPr>
          <a:lstStyle/>
          <a:p>
            <a:pPr algn="l"/>
            <a:r>
              <a:rPr sz="1300" b="0">
                <a:solidFill>
                  <a:srgbClr val="A6AEBA"/>
                </a:solidFill>
                <a:latin typeface="Calibri"/>
              </a:rPr>
              <a:t>Cheap gates fail fast before expensive runs</a:t>
            </a:r>
          </a:p>
        </p:txBody>
      </p:sp>
      <p:sp>
        <p:nvSpPr>
          <p:cNvPr id="15" name="TextBox 14"/>
          <p:cNvSpPr txBox="1"/>
          <p:nvPr/>
        </p:nvSpPr>
        <p:spPr>
          <a:xfrm>
            <a:off x="731520" y="3063239"/>
            <a:ext cx="1280160" cy="365760"/>
          </a:xfrm>
          <a:prstGeom prst="rect">
            <a:avLst/>
          </a:prstGeom>
          <a:noFill/>
        </p:spPr>
        <p:txBody>
          <a:bodyPr wrap="square" lIns="45720" rIns="45720">
            <a:spAutoFit/>
          </a:bodyPr>
          <a:lstStyle/>
          <a:p>
            <a:pPr algn="l"/>
            <a:r>
              <a:rPr sz="1400" b="1">
                <a:solidFill>
                  <a:srgbClr val="4EC5C1"/>
                </a:solidFill>
                <a:latin typeface="Courier New"/>
              </a:rPr>
              <a:t>Phase 5</a:t>
            </a:r>
          </a:p>
        </p:txBody>
      </p:sp>
      <p:sp>
        <p:nvSpPr>
          <p:cNvPr id="16" name="TextBox 15"/>
          <p:cNvSpPr txBox="1"/>
          <p:nvPr/>
        </p:nvSpPr>
        <p:spPr>
          <a:xfrm>
            <a:off x="2194560" y="3063239"/>
            <a:ext cx="5029200" cy="365760"/>
          </a:xfrm>
          <a:prstGeom prst="rect">
            <a:avLst/>
          </a:prstGeom>
          <a:noFill/>
        </p:spPr>
        <p:txBody>
          <a:bodyPr wrap="square" lIns="45720" rIns="45720">
            <a:spAutoFit/>
          </a:bodyPr>
          <a:lstStyle/>
          <a:p>
            <a:pPr algn="l"/>
            <a:r>
              <a:rPr sz="1400" b="0">
                <a:solidFill>
                  <a:srgbClr val="E8ECF1"/>
                </a:solidFill>
                <a:latin typeface="Calibri"/>
              </a:rPr>
              <a:t>Real critic Agent + playbook + live demo</a:t>
            </a:r>
          </a:p>
        </p:txBody>
      </p:sp>
      <p:sp>
        <p:nvSpPr>
          <p:cNvPr id="17" name="TextBox 16"/>
          <p:cNvSpPr txBox="1"/>
          <p:nvPr/>
        </p:nvSpPr>
        <p:spPr>
          <a:xfrm>
            <a:off x="7315200" y="3063239"/>
            <a:ext cx="4572000" cy="365760"/>
          </a:xfrm>
          <a:prstGeom prst="rect">
            <a:avLst/>
          </a:prstGeom>
          <a:noFill/>
        </p:spPr>
        <p:txBody>
          <a:bodyPr wrap="square" lIns="45720" rIns="45720">
            <a:spAutoFit/>
          </a:bodyPr>
          <a:lstStyle/>
          <a:p>
            <a:pPr algn="l"/>
            <a:r>
              <a:rPr sz="1300" b="0">
                <a:solidFill>
                  <a:srgbClr val="A6AEBA"/>
                </a:solidFill>
                <a:latin typeface="Calibri"/>
              </a:rPr>
              <a:t>Stub → real Claude subagent (phase 4 merged in)</a:t>
            </a:r>
          </a:p>
        </p:txBody>
      </p:sp>
      <p:sp>
        <p:nvSpPr>
          <p:cNvPr id="18" name="TextBox 17"/>
          <p:cNvSpPr txBox="1"/>
          <p:nvPr/>
        </p:nvSpPr>
        <p:spPr>
          <a:xfrm>
            <a:off x="731520" y="3566159"/>
            <a:ext cx="1280160" cy="365760"/>
          </a:xfrm>
          <a:prstGeom prst="rect">
            <a:avLst/>
          </a:prstGeom>
          <a:noFill/>
        </p:spPr>
        <p:txBody>
          <a:bodyPr wrap="square" lIns="45720" rIns="45720">
            <a:spAutoFit/>
          </a:bodyPr>
          <a:lstStyle/>
          <a:p>
            <a:pPr algn="l"/>
            <a:r>
              <a:rPr sz="1400" b="1">
                <a:solidFill>
                  <a:srgbClr val="4EC5C1"/>
                </a:solidFill>
                <a:latin typeface="Courier New"/>
              </a:rPr>
              <a:t>Phase 6</a:t>
            </a:r>
          </a:p>
        </p:txBody>
      </p:sp>
      <p:sp>
        <p:nvSpPr>
          <p:cNvPr id="19" name="TextBox 18"/>
          <p:cNvSpPr txBox="1"/>
          <p:nvPr/>
        </p:nvSpPr>
        <p:spPr>
          <a:xfrm>
            <a:off x="2194560" y="3566159"/>
            <a:ext cx="5029200" cy="365760"/>
          </a:xfrm>
          <a:prstGeom prst="rect">
            <a:avLst/>
          </a:prstGeom>
          <a:noFill/>
        </p:spPr>
        <p:txBody>
          <a:bodyPr wrap="square" lIns="45720" rIns="45720">
            <a:spAutoFit/>
          </a:bodyPr>
          <a:lstStyle/>
          <a:p>
            <a:pPr algn="l"/>
            <a:r>
              <a:rPr sz="1400" b="0">
                <a:solidFill>
                  <a:srgbClr val="E8ECF1"/>
                </a:solidFill>
                <a:latin typeface="Calibri"/>
              </a:rPr>
              <a:t>pre-commit-loop guardrails (6 checks)</a:t>
            </a:r>
          </a:p>
        </p:txBody>
      </p:sp>
      <p:sp>
        <p:nvSpPr>
          <p:cNvPr id="20" name="TextBox 19"/>
          <p:cNvSpPr txBox="1"/>
          <p:nvPr/>
        </p:nvSpPr>
        <p:spPr>
          <a:xfrm>
            <a:off x="7315200" y="3566159"/>
            <a:ext cx="4572000" cy="365760"/>
          </a:xfrm>
          <a:prstGeom prst="rect">
            <a:avLst/>
          </a:prstGeom>
          <a:noFill/>
        </p:spPr>
        <p:txBody>
          <a:bodyPr wrap="square" lIns="45720" rIns="45720">
            <a:spAutoFit/>
          </a:bodyPr>
          <a:lstStyle/>
          <a:p>
            <a:pPr algn="l"/>
            <a:r>
              <a:rPr sz="1300" b="0">
                <a:solidFill>
                  <a:srgbClr val="A6AEBA"/>
                </a:solidFill>
                <a:latin typeface="Calibri"/>
              </a:rPr>
              <a:t>Mechanical caps on fixer-authored commits</a:t>
            </a:r>
          </a:p>
        </p:txBody>
      </p:sp>
      <p:sp>
        <p:nvSpPr>
          <p:cNvPr id="21" name="TextBox 20"/>
          <p:cNvSpPr txBox="1"/>
          <p:nvPr/>
        </p:nvSpPr>
        <p:spPr>
          <a:xfrm>
            <a:off x="731520" y="4069079"/>
            <a:ext cx="1280160" cy="365760"/>
          </a:xfrm>
          <a:prstGeom prst="rect">
            <a:avLst/>
          </a:prstGeom>
          <a:noFill/>
        </p:spPr>
        <p:txBody>
          <a:bodyPr wrap="square" lIns="45720" rIns="45720">
            <a:spAutoFit/>
          </a:bodyPr>
          <a:lstStyle/>
          <a:p>
            <a:pPr algn="l"/>
            <a:r>
              <a:rPr sz="1400" b="1">
                <a:solidFill>
                  <a:srgbClr val="4EC5C1"/>
                </a:solidFill>
                <a:latin typeface="Courier New"/>
              </a:rPr>
              <a:t>Phase 7</a:t>
            </a:r>
          </a:p>
        </p:txBody>
      </p:sp>
      <p:sp>
        <p:nvSpPr>
          <p:cNvPr id="22" name="TextBox 21"/>
          <p:cNvSpPr txBox="1"/>
          <p:nvPr/>
        </p:nvSpPr>
        <p:spPr>
          <a:xfrm>
            <a:off x="2194560" y="4069079"/>
            <a:ext cx="5029200" cy="365760"/>
          </a:xfrm>
          <a:prstGeom prst="rect">
            <a:avLst/>
          </a:prstGeom>
          <a:noFill/>
        </p:spPr>
        <p:txBody>
          <a:bodyPr wrap="square" lIns="45720" rIns="45720">
            <a:spAutoFit/>
          </a:bodyPr>
          <a:lstStyle/>
          <a:p>
            <a:pPr algn="l"/>
            <a:r>
              <a:rPr sz="1400" b="0">
                <a:solidFill>
                  <a:srgbClr val="E8ECF1"/>
                </a:solidFill>
                <a:latin typeface="Calibri"/>
              </a:rPr>
              <a:t>Parallel kickoff + priority + 35-iter sweep</a:t>
            </a:r>
          </a:p>
        </p:txBody>
      </p:sp>
      <p:sp>
        <p:nvSpPr>
          <p:cNvPr id="23" name="TextBox 22"/>
          <p:cNvSpPr txBox="1"/>
          <p:nvPr/>
        </p:nvSpPr>
        <p:spPr>
          <a:xfrm>
            <a:off x="7315200" y="4069079"/>
            <a:ext cx="4572000" cy="365760"/>
          </a:xfrm>
          <a:prstGeom prst="rect">
            <a:avLst/>
          </a:prstGeom>
          <a:noFill/>
        </p:spPr>
        <p:txBody>
          <a:bodyPr wrap="square" lIns="45720" rIns="45720">
            <a:spAutoFit/>
          </a:bodyPr>
          <a:lstStyle/>
          <a:p>
            <a:pPr algn="l"/>
            <a:r>
              <a:rPr sz="1300" b="0">
                <a:solidFill>
                  <a:srgbClr val="A6AEBA"/>
                </a:solidFill>
                <a:latin typeface="Calibri"/>
              </a:rPr>
              <a:t>Validated mechanics against full 25-scenario library</a:t>
            </a:r>
          </a:p>
        </p:txBody>
      </p:sp>
      <p:sp>
        <p:nvSpPr>
          <p:cNvPr id="24" name="TextBox 23"/>
          <p:cNvSpPr txBox="1"/>
          <p:nvPr/>
        </p:nvSpPr>
        <p:spPr>
          <a:xfrm>
            <a:off x="731520" y="4571999"/>
            <a:ext cx="1280160" cy="365760"/>
          </a:xfrm>
          <a:prstGeom prst="rect">
            <a:avLst/>
          </a:prstGeom>
          <a:noFill/>
        </p:spPr>
        <p:txBody>
          <a:bodyPr wrap="square" lIns="45720" rIns="45720">
            <a:spAutoFit/>
          </a:bodyPr>
          <a:lstStyle/>
          <a:p>
            <a:pPr algn="l"/>
            <a:r>
              <a:rPr sz="1400" b="1">
                <a:solidFill>
                  <a:srgbClr val="4EC5C1"/>
                </a:solidFill>
                <a:latin typeface="Courier New"/>
              </a:rPr>
              <a:t>follow-up</a:t>
            </a:r>
          </a:p>
        </p:txBody>
      </p:sp>
      <p:sp>
        <p:nvSpPr>
          <p:cNvPr id="25" name="TextBox 24"/>
          <p:cNvSpPr txBox="1"/>
          <p:nvPr/>
        </p:nvSpPr>
        <p:spPr>
          <a:xfrm>
            <a:off x="2194560" y="4571999"/>
            <a:ext cx="5029200" cy="365760"/>
          </a:xfrm>
          <a:prstGeom prst="rect">
            <a:avLst/>
          </a:prstGeom>
          <a:noFill/>
        </p:spPr>
        <p:txBody>
          <a:bodyPr wrap="square" lIns="45720" rIns="45720">
            <a:spAutoFit/>
          </a:bodyPr>
          <a:lstStyle/>
          <a:p>
            <a:pPr algn="l"/>
            <a:r>
              <a:rPr sz="1400" b="0">
                <a:solidFill>
                  <a:srgbClr val="E8ECF1"/>
                </a:solidFill>
                <a:latin typeface="Calibri"/>
              </a:rPr>
              <a:t>fix-scenario-reds: 3 pre-existing bugs</a:t>
            </a:r>
          </a:p>
        </p:txBody>
      </p:sp>
      <p:sp>
        <p:nvSpPr>
          <p:cNvPr id="26" name="TextBox 25"/>
          <p:cNvSpPr txBox="1"/>
          <p:nvPr/>
        </p:nvSpPr>
        <p:spPr>
          <a:xfrm>
            <a:off x="7315200" y="4571999"/>
            <a:ext cx="4572000" cy="365760"/>
          </a:xfrm>
          <a:prstGeom prst="rect">
            <a:avLst/>
          </a:prstGeom>
          <a:noFill/>
        </p:spPr>
        <p:txBody>
          <a:bodyPr wrap="square" lIns="45720" rIns="45720">
            <a:spAutoFit/>
          </a:bodyPr>
          <a:lstStyle/>
          <a:p>
            <a:pPr algn="l"/>
            <a:r>
              <a:rPr sz="1300" b="0">
                <a:solidFill>
                  <a:srgbClr val="A6AEBA"/>
                </a:solidFill>
                <a:latin typeface="Calibri"/>
              </a:rPr>
              <a:t>Detailed on slides 9–11</a:t>
            </a:r>
          </a:p>
        </p:txBody>
      </p:sp>
      <p:sp>
        <p:nvSpPr>
          <p:cNvPr id="27" name="TextBox 26"/>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5 / 14</a:t>
            </a:r>
          </a:p>
        </p:txBody>
      </p:sp>
      <p:sp>
        <p:nvSpPr>
          <p:cNvPr id="28" name="TextBox 27"/>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What works today</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Capabilities validated against the full scenario library</a:t>
            </a:r>
          </a:p>
        </p:txBody>
      </p:sp>
      <p:sp>
        <p:nvSpPr>
          <p:cNvPr id="6" name="TextBox 5"/>
          <p:cNvSpPr txBox="1"/>
          <p:nvPr/>
        </p:nvSpPr>
        <p:spPr>
          <a:xfrm>
            <a:off x="731520" y="1554480"/>
            <a:ext cx="10972800" cy="5029200"/>
          </a:xfrm>
          <a:prstGeom prst="rect">
            <a:avLst/>
          </a:prstGeom>
          <a:noFill/>
        </p:spPr>
        <p:txBody>
          <a:bodyPr wrap="square">
            <a:spAutoFit/>
          </a:bodyPr>
          <a:lstStyle/>
          <a:p>
            <a:pPr algn="l">
              <a:spcAft>
                <a:spcPts val="600"/>
              </a:spcAft>
            </a:pPr>
            <a:r>
              <a:rPr sz="1500" b="0">
                <a:solidFill>
                  <a:srgbClr val="E8ECF1"/>
                </a:solidFill>
                <a:latin typeface="Calibri"/>
              </a:rPr>
              <a:t>•  Per-step screenshot capture — one PNG per scenario step, deterministic naming</a:t>
            </a:r>
          </a:p>
          <a:p>
            <a:pPr algn="l">
              <a:spcAft>
                <a:spcPts val="600"/>
              </a:spcAft>
            </a:pPr>
            <a:r>
              <a:rPr sz="1500" b="0">
                <a:solidFill>
                  <a:srgbClr val="E8ECF1"/>
                </a:solidFill>
                <a:latin typeface="Calibri"/>
              </a:rPr>
              <a:t>•  Golden PHASH diff — 64-bit perceptual hash, per-scenario tunable thresholds</a:t>
            </a:r>
          </a:p>
          <a:p>
            <a:pPr algn="l">
              <a:spcAft>
                <a:spcPts val="600"/>
              </a:spcAft>
            </a:pPr>
            <a:r>
              <a:rPr sz="1500" b="1">
                <a:solidFill>
                  <a:srgbClr val="4EC5C1"/>
                </a:solidFill>
                <a:latin typeface="Calibri"/>
              </a:rPr>
              <a:t>•  --bless workflow — REFUSES to bless when the scenario itself failed (Phase 7 fix prevented baseline corruption on 3 reds)</a:t>
            </a:r>
          </a:p>
          <a:p>
            <a:pPr algn="l">
              <a:spcAft>
                <a:spcPts val="600"/>
              </a:spcAft>
            </a:pPr>
            <a:r>
              <a:rPr sz="1500" b="0">
                <a:solidFill>
                  <a:srgbClr val="E8ECF1"/>
                </a:solidFill>
                <a:latin typeface="Calibri"/>
              </a:rPr>
              <a:t>•  Selector preflight — dry-run resolves click_node / click_unit / expect_node_*</a:t>
            </a:r>
          </a:p>
          <a:p>
            <a:pPr algn="l">
              <a:spcAft>
                <a:spcPts val="600"/>
              </a:spcAft>
            </a:pPr>
            <a:r>
              <a:rPr sz="1500" b="0">
                <a:solidFill>
                  <a:srgbClr val="E8ECF1"/>
                </a:solidFill>
                <a:latin typeface="Calibri"/>
              </a:rPr>
              <a:t>•  Determinism check — same seed twice → PHASH must match</a:t>
            </a:r>
          </a:p>
          <a:p>
            <a:pPr algn="l">
              <a:spcAft>
                <a:spcPts val="600"/>
              </a:spcAft>
            </a:pPr>
            <a:r>
              <a:rPr sz="1500" b="0">
                <a:solidFill>
                  <a:srgbClr val="E8ECF1"/>
                </a:solidFill>
                <a:latin typeface="Calibri"/>
              </a:rPr>
              <a:t>•  Real critic Agent — returns structured {verdict, reason, suggested_action} JSON</a:t>
            </a:r>
          </a:p>
          <a:p>
            <a:pPr algn="l">
              <a:spcAft>
                <a:spcPts val="600"/>
              </a:spcAft>
            </a:pPr>
            <a:r>
              <a:rPr sz="1500" b="0">
                <a:solidFill>
                  <a:srgbClr val="E8ECF1"/>
                </a:solidFill>
                <a:latin typeface="Calibri"/>
              </a:rPr>
              <a:t>•  Pre-commit-loop guardrails — 6 mechanical checks, fires only on loop/* branches</a:t>
            </a:r>
          </a:p>
          <a:p>
            <a:pPr algn="l">
              <a:spcAft>
                <a:spcPts val="600"/>
              </a:spcAft>
            </a:pPr>
            <a:r>
              <a:rPr sz="1500" b="0">
                <a:solidFill>
                  <a:srgbClr val="4EC5C1"/>
                </a:solidFill>
                <a:latin typeface="Calibri"/>
              </a:rPr>
              <a:t>•  All 22 previously-passing scenarios still pass after infrastructure changes — no regressions introduced</a:t>
            </a:r>
          </a:p>
          <a:p>
            <a:pPr algn="l">
              <a:spcAft>
                <a:spcPts val="600"/>
              </a:spcAft>
            </a:pPr>
            <a:r>
              <a:rPr sz="1500" b="0">
                <a:solidFill>
                  <a:srgbClr val="E8ECF1"/>
                </a:solidFill>
                <a:latin typeface="Calibri"/>
              </a:rPr>
              <a:t>•  All 25 scenarios can now bless cleanly after the fix-scenario-reds branch lands</a:t>
            </a:r>
          </a:p>
        </p:txBody>
      </p:sp>
      <p:sp>
        <p:nvSpPr>
          <p:cNvPr id="7" name="TextBox 6"/>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6 / 14</a:t>
            </a:r>
          </a:p>
        </p:txBody>
      </p:sp>
      <p:sp>
        <p:nvSpPr>
          <p:cNvPr id="8" name="TextBox 7"/>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What's NOT yet feasible — honest gaps</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Each gap has a known reason and a path to close it</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500" b="1">
                <a:solidFill>
                  <a:srgbClr val="E8B44D"/>
                </a:solidFill>
                <a:latin typeface="Calibri"/>
              </a:rPr>
              <a:t>▸ End-to-end fixer→merge against a REAL regression</a:t>
            </a:r>
          </a:p>
        </p:txBody>
      </p:sp>
      <p:sp>
        <p:nvSpPr>
          <p:cNvPr id="7" name="TextBox 6"/>
          <p:cNvSpPr txBox="1"/>
          <p:nvPr/>
        </p:nvSpPr>
        <p:spPr>
          <a:xfrm>
            <a:off x="1005840" y="1920240"/>
            <a:ext cx="10515600" cy="548640"/>
          </a:xfrm>
          <a:prstGeom prst="rect">
            <a:avLst/>
          </a:prstGeom>
          <a:noFill/>
        </p:spPr>
        <p:txBody>
          <a:bodyPr wrap="square" lIns="45720" rIns="45720">
            <a:spAutoFit/>
          </a:bodyPr>
          <a:lstStyle/>
          <a:p>
            <a:pPr algn="l"/>
            <a:r>
              <a:rPr sz="1300" b="0">
                <a:solidFill>
                  <a:srgbClr val="A6AEBA"/>
                </a:solidFill>
                <a:latin typeface="Calibri"/>
              </a:rPr>
              <a:t>Only tested against synthetic drift. Needs a real UI-changing PR to flow through critic → fixer → green merge.</a:t>
            </a:r>
          </a:p>
        </p:txBody>
      </p:sp>
      <p:sp>
        <p:nvSpPr>
          <p:cNvPr id="8" name="TextBox 7"/>
          <p:cNvSpPr txBox="1"/>
          <p:nvPr/>
        </p:nvSpPr>
        <p:spPr>
          <a:xfrm>
            <a:off x="731520" y="2514600"/>
            <a:ext cx="10972800" cy="365760"/>
          </a:xfrm>
          <a:prstGeom prst="rect">
            <a:avLst/>
          </a:prstGeom>
          <a:noFill/>
        </p:spPr>
        <p:txBody>
          <a:bodyPr wrap="square" lIns="45720" rIns="45720">
            <a:spAutoFit/>
          </a:bodyPr>
          <a:lstStyle/>
          <a:p>
            <a:pPr algn="l"/>
            <a:r>
              <a:rPr sz="1500" b="1">
                <a:solidFill>
                  <a:srgbClr val="E8B44D"/>
                </a:solidFill>
                <a:latin typeface="Calibri"/>
              </a:rPr>
              <a:t>▸ Critic accuracy on subtle regressions</a:t>
            </a:r>
          </a:p>
        </p:txBody>
      </p:sp>
      <p:sp>
        <p:nvSpPr>
          <p:cNvPr id="9" name="TextBox 8"/>
          <p:cNvSpPr txBox="1"/>
          <p:nvPr/>
        </p:nvSpPr>
        <p:spPr>
          <a:xfrm>
            <a:off x="1005840" y="2880360"/>
            <a:ext cx="10515600" cy="548640"/>
          </a:xfrm>
          <a:prstGeom prst="rect">
            <a:avLst/>
          </a:prstGeom>
          <a:noFill/>
        </p:spPr>
        <p:txBody>
          <a:bodyPr wrap="square" lIns="45720" rIns="45720">
            <a:spAutoFit/>
          </a:bodyPr>
          <a:lstStyle/>
          <a:p>
            <a:pPr algn="l"/>
            <a:r>
              <a:rPr sz="1300" b="0">
                <a:solidFill>
                  <a:srgbClr val="A6AEBA"/>
                </a:solidFill>
                <a:latin typeface="Calibri"/>
              </a:rPr>
              <a:t>Reliably catches gross drift. False-positive/negative rate on 1-pixel changes and font hinting is unmeasured. Needs a labeled corpus.</a:t>
            </a:r>
          </a:p>
        </p:txBody>
      </p:sp>
      <p:sp>
        <p:nvSpPr>
          <p:cNvPr id="10" name="TextBox 9"/>
          <p:cNvSpPr txBox="1"/>
          <p:nvPr/>
        </p:nvSpPr>
        <p:spPr>
          <a:xfrm>
            <a:off x="731520" y="3474720"/>
            <a:ext cx="10972800" cy="365760"/>
          </a:xfrm>
          <a:prstGeom prst="rect">
            <a:avLst/>
          </a:prstGeom>
          <a:noFill/>
        </p:spPr>
        <p:txBody>
          <a:bodyPr wrap="square" lIns="45720" rIns="45720">
            <a:spAutoFit/>
          </a:bodyPr>
          <a:lstStyle/>
          <a:p>
            <a:pPr algn="l"/>
            <a:r>
              <a:rPr sz="1500" b="1">
                <a:solidFill>
                  <a:srgbClr val="E8B44D"/>
                </a:solidFill>
                <a:latin typeface="Calibri"/>
              </a:rPr>
              <a:t>▸ Cross-scenario coverage tile gaps</a:t>
            </a:r>
          </a:p>
        </p:txBody>
      </p:sp>
      <p:sp>
        <p:nvSpPr>
          <p:cNvPr id="11" name="TextBox 10"/>
          <p:cNvSpPr txBox="1"/>
          <p:nvPr/>
        </p:nvSpPr>
        <p:spPr>
          <a:xfrm>
            <a:off x="1005840" y="3840480"/>
            <a:ext cx="10515600" cy="548640"/>
          </a:xfrm>
          <a:prstGeom prst="rect">
            <a:avLst/>
          </a:prstGeom>
          <a:noFill/>
        </p:spPr>
        <p:txBody>
          <a:bodyPr wrap="square" lIns="45720" rIns="45720">
            <a:spAutoFit/>
          </a:bodyPr>
          <a:lstStyle/>
          <a:p>
            <a:pPr algn="l"/>
            <a:r>
              <a:rPr sz="1300" b="0">
                <a:solidFill>
                  <a:srgbClr val="A6AEBA"/>
                </a:solidFill>
                <a:latin typeface="Calibri"/>
              </a:rPr>
              <a:t>~26 scenarios declare cover tags missing from coverage.json (predate my work). Each needs a hand-written feature description — needs human input.</a:t>
            </a:r>
          </a:p>
        </p:txBody>
      </p:sp>
      <p:sp>
        <p:nvSpPr>
          <p:cNvPr id="12" name="TextBox 11"/>
          <p:cNvSpPr txBox="1"/>
          <p:nvPr/>
        </p:nvSpPr>
        <p:spPr>
          <a:xfrm>
            <a:off x="731520" y="4434840"/>
            <a:ext cx="10972800" cy="365760"/>
          </a:xfrm>
          <a:prstGeom prst="rect">
            <a:avLst/>
          </a:prstGeom>
          <a:noFill/>
        </p:spPr>
        <p:txBody>
          <a:bodyPr wrap="square" lIns="45720" rIns="45720">
            <a:spAutoFit/>
          </a:bodyPr>
          <a:lstStyle/>
          <a:p>
            <a:pPr algn="l"/>
            <a:r>
              <a:rPr sz="1500" b="1">
                <a:solidFill>
                  <a:srgbClr val="E8B44D"/>
                </a:solidFill>
                <a:latin typeface="Calibri"/>
              </a:rPr>
              <a:t>▸ Parallel scenario execution under load</a:t>
            </a:r>
          </a:p>
        </p:txBody>
      </p:sp>
      <p:sp>
        <p:nvSpPr>
          <p:cNvPr id="13" name="TextBox 12"/>
          <p:cNvSpPr txBox="1"/>
          <p:nvPr/>
        </p:nvSpPr>
        <p:spPr>
          <a:xfrm>
            <a:off x="1005840" y="4800600"/>
            <a:ext cx="10515600" cy="548640"/>
          </a:xfrm>
          <a:prstGeom prst="rect">
            <a:avLst/>
          </a:prstGeom>
          <a:noFill/>
        </p:spPr>
        <p:txBody>
          <a:bodyPr wrap="square" lIns="45720" rIns="45720">
            <a:spAutoFit/>
          </a:bodyPr>
          <a:lstStyle/>
          <a:p>
            <a:pPr algn="l"/>
            <a:r>
              <a:rPr sz="1300" b="0">
                <a:solidFill>
                  <a:srgbClr val="A6AEBA"/>
                </a:solidFill>
                <a:latin typeface="Calibri"/>
              </a:rPr>
              <a:t>Kickoff script documents N-session fan-out. Haven't tested whether shared user:// paths cause interference. Single-session is safe.</a:t>
            </a:r>
          </a:p>
        </p:txBody>
      </p:sp>
      <p:sp>
        <p:nvSpPr>
          <p:cNvPr id="14" name="TextBox 13"/>
          <p:cNvSpPr txBox="1"/>
          <p:nvPr/>
        </p:nvSpPr>
        <p:spPr>
          <a:xfrm>
            <a:off x="731520" y="5394959"/>
            <a:ext cx="10972800" cy="365760"/>
          </a:xfrm>
          <a:prstGeom prst="rect">
            <a:avLst/>
          </a:prstGeom>
          <a:noFill/>
        </p:spPr>
        <p:txBody>
          <a:bodyPr wrap="square" lIns="45720" rIns="45720">
            <a:spAutoFit/>
          </a:bodyPr>
          <a:lstStyle/>
          <a:p>
            <a:pPr algn="l"/>
            <a:r>
              <a:rPr sz="1500" b="1">
                <a:solidFill>
                  <a:srgbClr val="E8B44D"/>
                </a:solidFill>
                <a:latin typeface="Calibri"/>
              </a:rPr>
              <a:t>▸ Real Godot install on cloud runners</a:t>
            </a:r>
          </a:p>
        </p:txBody>
      </p:sp>
      <p:sp>
        <p:nvSpPr>
          <p:cNvPr id="15" name="TextBox 14"/>
          <p:cNvSpPr txBox="1"/>
          <p:nvPr/>
        </p:nvSpPr>
        <p:spPr>
          <a:xfrm>
            <a:off x="1005840" y="5760720"/>
            <a:ext cx="10515600" cy="548640"/>
          </a:xfrm>
          <a:prstGeom prst="rect">
            <a:avLst/>
          </a:prstGeom>
          <a:noFill/>
        </p:spPr>
        <p:txBody>
          <a:bodyPr wrap="square" lIns="45720" rIns="45720">
            <a:spAutoFit/>
          </a:bodyPr>
          <a:lstStyle/>
          <a:p>
            <a:pPr algn="l"/>
            <a:r>
              <a:rPr sz="1300" b="0">
                <a:solidFill>
                  <a:srgbClr val="A6AEBA"/>
                </a:solidFill>
                <a:latin typeface="Calibri"/>
              </a:rPr>
              <a:t>SessionStart hook installs 4.4.1 + xvfb per session (~40s cold start). Fine for one-shot; want a pre-built image for high-frequency loops.</a:t>
            </a:r>
          </a:p>
        </p:txBody>
      </p:sp>
      <p:sp>
        <p:nvSpPr>
          <p:cNvPr id="16" name="TextBox 15"/>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7 / 14</a:t>
            </a:r>
          </a:p>
        </p:txBody>
      </p:sp>
      <p:sp>
        <p:nvSpPr>
          <p:cNvPr id="17" name="TextBox 16"/>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The 3 pre-existing scenario reds</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The loop surfaced these. Each was a real bug — not a flake. Each fixed differently.</a:t>
            </a:r>
          </a:p>
        </p:txBody>
      </p:sp>
      <p:sp>
        <p:nvSpPr>
          <p:cNvPr id="6" name="TextBox 5"/>
          <p:cNvSpPr txBox="1"/>
          <p:nvPr/>
        </p:nvSpPr>
        <p:spPr>
          <a:xfrm>
            <a:off x="731520" y="1645920"/>
            <a:ext cx="10972800" cy="365760"/>
          </a:xfrm>
          <a:prstGeom prst="rect">
            <a:avLst/>
          </a:prstGeom>
          <a:noFill/>
        </p:spPr>
        <p:txBody>
          <a:bodyPr wrap="square" lIns="45720" rIns="45720">
            <a:spAutoFit/>
          </a:bodyPr>
          <a:lstStyle/>
          <a:p>
            <a:pPr algn="l"/>
            <a:r>
              <a:rPr sz="1400" b="0">
                <a:solidFill>
                  <a:srgbClr val="E8ECF1"/>
                </a:solidFill>
                <a:latin typeface="Calibri"/>
              </a:rPr>
              <a:t>These are exactly the kind of bug headless tests miss — they only fail when the full UI + AI + phase-manager pipeline runs end-to-end.</a:t>
            </a:r>
          </a:p>
        </p:txBody>
      </p:sp>
      <p:sp>
        <p:nvSpPr>
          <p:cNvPr id="7" name="Rounded Rectangle 6"/>
          <p:cNvSpPr/>
          <p:nvPr/>
        </p:nvSpPr>
        <p:spPr>
          <a:xfrm>
            <a:off x="457200" y="2468880"/>
            <a:ext cx="3749039" cy="3931920"/>
          </a:xfrm>
          <a:prstGeom prst="roundRect">
            <a:avLst/>
          </a:prstGeom>
          <a:solidFill>
            <a:srgbClr val="2A3342"/>
          </a:solidFill>
          <a:ln w="6350">
            <a:solidFill>
              <a:srgbClr val="A6A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560320"/>
            <a:ext cx="3474720" cy="365760"/>
          </a:xfrm>
          <a:prstGeom prst="rect">
            <a:avLst/>
          </a:prstGeom>
          <a:noFill/>
        </p:spPr>
        <p:txBody>
          <a:bodyPr wrap="square" lIns="45720" rIns="45720">
            <a:spAutoFit/>
          </a:bodyPr>
          <a:lstStyle/>
          <a:p>
            <a:pPr algn="l"/>
            <a:r>
              <a:rPr sz="1200" b="1">
                <a:solidFill>
                  <a:srgbClr val="4EC5C1"/>
                </a:solidFill>
                <a:latin typeface="Courier New"/>
              </a:rPr>
              <a:t>372_ere_we_go</a:t>
            </a:r>
          </a:p>
        </p:txBody>
      </p:sp>
      <p:sp>
        <p:nvSpPr>
          <p:cNvPr id="9" name="TextBox 8"/>
          <p:cNvSpPr txBox="1"/>
          <p:nvPr/>
        </p:nvSpPr>
        <p:spPr>
          <a:xfrm>
            <a:off x="594360" y="2926080"/>
            <a:ext cx="3474720" cy="274320"/>
          </a:xfrm>
          <a:prstGeom prst="rect">
            <a:avLst/>
          </a:prstGeom>
          <a:noFill/>
        </p:spPr>
        <p:txBody>
          <a:bodyPr wrap="square" lIns="45720" rIns="45720">
            <a:spAutoFit/>
          </a:bodyPr>
          <a:lstStyle/>
          <a:p>
            <a:pPr algn="l"/>
            <a:r>
              <a:rPr sz="1000" b="1">
                <a:solidFill>
                  <a:srgbClr val="A6AEBA"/>
                </a:solidFill>
                <a:latin typeface="Calibri"/>
              </a:rPr>
              <a:t>Root cause</a:t>
            </a:r>
          </a:p>
        </p:txBody>
      </p:sp>
      <p:sp>
        <p:nvSpPr>
          <p:cNvPr id="10" name="TextBox 9"/>
          <p:cNvSpPr txBox="1"/>
          <p:nvPr/>
        </p:nvSpPr>
        <p:spPr>
          <a:xfrm>
            <a:off x="594360" y="3200400"/>
            <a:ext cx="3474720" cy="1463040"/>
          </a:xfrm>
          <a:prstGeom prst="rect">
            <a:avLst/>
          </a:prstGeom>
          <a:noFill/>
        </p:spPr>
        <p:txBody>
          <a:bodyPr wrap="square" lIns="45720" rIns="45720">
            <a:spAutoFit/>
          </a:bodyPr>
          <a:lstStyle/>
          <a:p>
            <a:pPr algn="l"/>
            <a:r>
              <a:rPr sz="1000" b="0">
                <a:solidFill>
                  <a:srgbClr val="E8ECF1"/>
                </a:solidFill>
                <a:latin typeface="Calibri"/>
              </a:rPr>
              <a:t>Fixture's active player is AI. AI auto-processed the charge turn during scenario's first wait_seconds, marked U_BOYZ_E as completed, then rejected the scenario's DECLARE_CHARGE.</a:t>
            </a:r>
          </a:p>
        </p:txBody>
      </p:sp>
      <p:sp>
        <p:nvSpPr>
          <p:cNvPr id="11" name="TextBox 10"/>
          <p:cNvSpPr txBox="1"/>
          <p:nvPr/>
        </p:nvSpPr>
        <p:spPr>
          <a:xfrm>
            <a:off x="594360" y="4754880"/>
            <a:ext cx="3474720" cy="274320"/>
          </a:xfrm>
          <a:prstGeom prst="rect">
            <a:avLst/>
          </a:prstGeom>
          <a:noFill/>
        </p:spPr>
        <p:txBody>
          <a:bodyPr wrap="square" lIns="45720" rIns="45720">
            <a:spAutoFit/>
          </a:bodyPr>
          <a:lstStyle/>
          <a:p>
            <a:pPr algn="l"/>
            <a:r>
              <a:rPr sz="1000" b="1">
                <a:solidFill>
                  <a:srgbClr val="A6AEBA"/>
                </a:solidFill>
                <a:latin typeface="Calibri"/>
              </a:rPr>
              <a:t>Fix</a:t>
            </a:r>
          </a:p>
        </p:txBody>
      </p:sp>
      <p:sp>
        <p:nvSpPr>
          <p:cNvPr id="12" name="TextBox 11"/>
          <p:cNvSpPr txBox="1"/>
          <p:nvPr/>
        </p:nvSpPr>
        <p:spPr>
          <a:xfrm>
            <a:off x="594360" y="5029200"/>
            <a:ext cx="3474720" cy="1097280"/>
          </a:xfrm>
          <a:prstGeom prst="rect">
            <a:avLst/>
          </a:prstGeom>
          <a:noFill/>
        </p:spPr>
        <p:txBody>
          <a:bodyPr wrap="square" lIns="45720" rIns="45720">
            <a:spAutoFit/>
          </a:bodyPr>
          <a:lstStyle/>
          <a:p>
            <a:pPr algn="l"/>
            <a:r>
              <a:rPr sz="1000" b="0">
                <a:solidFill>
                  <a:srgbClr val="E8ECF1"/>
                </a:solidFill>
                <a:latin typeface="Calibri"/>
              </a:rPr>
              <a:t>Added optional disable_ai:true scenario field. Runner toggles AIPlayer.enabled=false. Default off preserves AI for scenarios that test it.</a:t>
            </a:r>
          </a:p>
        </p:txBody>
      </p:sp>
      <p:sp>
        <p:nvSpPr>
          <p:cNvPr id="13" name="Rounded Rectangle 12"/>
          <p:cNvSpPr/>
          <p:nvPr/>
        </p:nvSpPr>
        <p:spPr>
          <a:xfrm>
            <a:off x="4297680" y="2468880"/>
            <a:ext cx="3749039" cy="3931920"/>
          </a:xfrm>
          <a:prstGeom prst="roundRect">
            <a:avLst/>
          </a:prstGeom>
          <a:solidFill>
            <a:srgbClr val="2A3342"/>
          </a:solidFill>
          <a:ln w="6350">
            <a:solidFill>
              <a:srgbClr val="A6A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560320"/>
            <a:ext cx="3474720" cy="365760"/>
          </a:xfrm>
          <a:prstGeom prst="rect">
            <a:avLst/>
          </a:prstGeom>
          <a:noFill/>
        </p:spPr>
        <p:txBody>
          <a:bodyPr wrap="square" lIns="45720" rIns="45720">
            <a:spAutoFit/>
          </a:bodyPr>
          <a:lstStyle/>
          <a:p>
            <a:pPr algn="l"/>
            <a:r>
              <a:rPr sz="1200" b="1">
                <a:solidFill>
                  <a:srgbClr val="4EC5C1"/>
                </a:solidFill>
                <a:latin typeface="Courier New"/>
              </a:rPr>
              <a:t>373_lone_operative_guard</a:t>
            </a:r>
          </a:p>
        </p:txBody>
      </p:sp>
      <p:sp>
        <p:nvSpPr>
          <p:cNvPr id="15" name="TextBox 14"/>
          <p:cNvSpPr txBox="1"/>
          <p:nvPr/>
        </p:nvSpPr>
        <p:spPr>
          <a:xfrm>
            <a:off x="4434840" y="2926080"/>
            <a:ext cx="3474720" cy="274320"/>
          </a:xfrm>
          <a:prstGeom prst="rect">
            <a:avLst/>
          </a:prstGeom>
          <a:noFill/>
        </p:spPr>
        <p:txBody>
          <a:bodyPr wrap="square" lIns="45720" rIns="45720">
            <a:spAutoFit/>
          </a:bodyPr>
          <a:lstStyle/>
          <a:p>
            <a:pPr algn="l"/>
            <a:r>
              <a:rPr sz="1000" b="1">
                <a:solidFill>
                  <a:srgbClr val="A6AEBA"/>
                </a:solidFill>
                <a:latin typeface="Calibri"/>
              </a:rPr>
              <a:t>Root cause</a:t>
            </a:r>
          </a:p>
        </p:txBody>
      </p:sp>
      <p:sp>
        <p:nvSpPr>
          <p:cNvPr id="16" name="TextBox 15"/>
          <p:cNvSpPr txBox="1"/>
          <p:nvPr/>
        </p:nvSpPr>
        <p:spPr>
          <a:xfrm>
            <a:off x="4434840" y="3200400"/>
            <a:ext cx="3474720" cy="1463040"/>
          </a:xfrm>
          <a:prstGeom prst="rect">
            <a:avLst/>
          </a:prstGeom>
          <a:noFill/>
        </p:spPr>
        <p:txBody>
          <a:bodyPr wrap="square" lIns="45720" rIns="45720">
            <a:spAutoFit/>
          </a:bodyPr>
          <a:lstStyle/>
          <a:p>
            <a:pPr algn="l"/>
            <a:r>
              <a:rPr sz="1000" b="0">
                <a:solidFill>
                  <a:srgbClr val="E8ECF1"/>
                </a:solidFill>
                <a:latin typeface="Calibri"/>
              </a:rPr>
              <a:t>SCENARIO was wrong, not engine. Expected Lone Operative chars to be REJECTED from attachment. 10th-ed rule: LO is a targeting restriction, not attachment ban. Engine was correct; scenario never updated.</a:t>
            </a:r>
          </a:p>
        </p:txBody>
      </p:sp>
      <p:sp>
        <p:nvSpPr>
          <p:cNvPr id="17" name="TextBox 16"/>
          <p:cNvSpPr txBox="1"/>
          <p:nvPr/>
        </p:nvSpPr>
        <p:spPr>
          <a:xfrm>
            <a:off x="4434840" y="4754880"/>
            <a:ext cx="3474720" cy="274320"/>
          </a:xfrm>
          <a:prstGeom prst="rect">
            <a:avLst/>
          </a:prstGeom>
          <a:noFill/>
        </p:spPr>
        <p:txBody>
          <a:bodyPr wrap="square" lIns="45720" rIns="45720">
            <a:spAutoFit/>
          </a:bodyPr>
          <a:lstStyle/>
          <a:p>
            <a:pPr algn="l"/>
            <a:r>
              <a:rPr sz="1000" b="1">
                <a:solidFill>
                  <a:srgbClr val="A6AEBA"/>
                </a:solidFill>
                <a:latin typeface="Calibri"/>
              </a:rPr>
              <a:t>Fix</a:t>
            </a:r>
          </a:p>
        </p:txBody>
      </p:sp>
      <p:sp>
        <p:nvSpPr>
          <p:cNvPr id="18" name="TextBox 17"/>
          <p:cNvSpPr txBox="1"/>
          <p:nvPr/>
        </p:nvSpPr>
        <p:spPr>
          <a:xfrm>
            <a:off x="4434840" y="5029200"/>
            <a:ext cx="3474720" cy="1097280"/>
          </a:xfrm>
          <a:prstGeom prst="rect">
            <a:avLst/>
          </a:prstGeom>
          <a:noFill/>
        </p:spPr>
        <p:txBody>
          <a:bodyPr wrap="square" lIns="45720" rIns="45720">
            <a:spAutoFit/>
          </a:bodyPr>
          <a:lstStyle/>
          <a:p>
            <a:pPr algn="l"/>
            <a:r>
              <a:rPr sz="1000" b="0">
                <a:solidFill>
                  <a:srgbClr val="E8ECF1"/>
                </a:solidFill>
                <a:latin typeface="Calibri"/>
              </a:rPr>
              <a:t>Flipped expectations: LO Blade Champion now expected to attach successfully.</a:t>
            </a:r>
          </a:p>
        </p:txBody>
      </p:sp>
      <p:sp>
        <p:nvSpPr>
          <p:cNvPr id="19" name="Rounded Rectangle 18"/>
          <p:cNvSpPr/>
          <p:nvPr/>
        </p:nvSpPr>
        <p:spPr>
          <a:xfrm>
            <a:off x="8138160" y="2468880"/>
            <a:ext cx="3749039" cy="3931920"/>
          </a:xfrm>
          <a:prstGeom prst="roundRect">
            <a:avLst/>
          </a:prstGeom>
          <a:solidFill>
            <a:srgbClr val="2A3342"/>
          </a:solidFill>
          <a:ln w="6350">
            <a:solidFill>
              <a:srgbClr val="A6A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560320"/>
            <a:ext cx="3474720" cy="365760"/>
          </a:xfrm>
          <a:prstGeom prst="rect">
            <a:avLst/>
          </a:prstGeom>
          <a:noFill/>
        </p:spPr>
        <p:txBody>
          <a:bodyPr wrap="square" lIns="45720" rIns="45720">
            <a:spAutoFit/>
          </a:bodyPr>
          <a:lstStyle/>
          <a:p>
            <a:pPr algn="l"/>
            <a:r>
              <a:rPr sz="1200" b="1">
                <a:solidFill>
                  <a:srgbClr val="4EC5C1"/>
                </a:solidFill>
                <a:latin typeface="Courier New"/>
              </a:rPr>
              <a:t>fight_self_targeting</a:t>
            </a:r>
          </a:p>
        </p:txBody>
      </p:sp>
      <p:sp>
        <p:nvSpPr>
          <p:cNvPr id="21" name="TextBox 20"/>
          <p:cNvSpPr txBox="1"/>
          <p:nvPr/>
        </p:nvSpPr>
        <p:spPr>
          <a:xfrm>
            <a:off x="8275320" y="2926080"/>
            <a:ext cx="3474720" cy="274320"/>
          </a:xfrm>
          <a:prstGeom prst="rect">
            <a:avLst/>
          </a:prstGeom>
          <a:noFill/>
        </p:spPr>
        <p:txBody>
          <a:bodyPr wrap="square" lIns="45720" rIns="45720">
            <a:spAutoFit/>
          </a:bodyPr>
          <a:lstStyle/>
          <a:p>
            <a:pPr algn="l"/>
            <a:r>
              <a:rPr sz="1000" b="1">
                <a:solidFill>
                  <a:srgbClr val="A6AEBA"/>
                </a:solidFill>
                <a:latin typeface="Calibri"/>
              </a:rPr>
              <a:t>Root cause</a:t>
            </a:r>
          </a:p>
        </p:txBody>
      </p:sp>
      <p:sp>
        <p:nvSpPr>
          <p:cNvPr id="22" name="TextBox 21"/>
          <p:cNvSpPr txBox="1"/>
          <p:nvPr/>
        </p:nvSpPr>
        <p:spPr>
          <a:xfrm>
            <a:off x="8275320" y="3200400"/>
            <a:ext cx="3474720" cy="1463040"/>
          </a:xfrm>
          <a:prstGeom prst="rect">
            <a:avLst/>
          </a:prstGeom>
          <a:noFill/>
        </p:spPr>
        <p:txBody>
          <a:bodyPr wrap="square" lIns="45720" rIns="45720">
            <a:spAutoFit/>
          </a:bodyPr>
          <a:lstStyle/>
          <a:p>
            <a:pPr algn="l"/>
            <a:r>
              <a:rPr sz="1000" b="0">
                <a:solidFill>
                  <a:srgbClr val="E8ECF1"/>
                </a:solidFill>
                <a:latin typeface="Calibri"/>
              </a:rPr>
              <a:t>Scenario waited 1s then asserted phase=10. AI raced through fight + scoring + start-of-next-turn during that wait, leaving engine in phase 6 by the assertion.</a:t>
            </a:r>
          </a:p>
        </p:txBody>
      </p:sp>
      <p:sp>
        <p:nvSpPr>
          <p:cNvPr id="23" name="TextBox 22"/>
          <p:cNvSpPr txBox="1"/>
          <p:nvPr/>
        </p:nvSpPr>
        <p:spPr>
          <a:xfrm>
            <a:off x="8275320" y="4754880"/>
            <a:ext cx="3474720" cy="274320"/>
          </a:xfrm>
          <a:prstGeom prst="rect">
            <a:avLst/>
          </a:prstGeom>
          <a:noFill/>
        </p:spPr>
        <p:txBody>
          <a:bodyPr wrap="square" lIns="45720" rIns="45720">
            <a:spAutoFit/>
          </a:bodyPr>
          <a:lstStyle/>
          <a:p>
            <a:pPr algn="l"/>
            <a:r>
              <a:rPr sz="1000" b="1">
                <a:solidFill>
                  <a:srgbClr val="A6AEBA"/>
                </a:solidFill>
                <a:latin typeface="Calibri"/>
              </a:rPr>
              <a:t>Fix</a:t>
            </a:r>
          </a:p>
        </p:txBody>
      </p:sp>
      <p:sp>
        <p:nvSpPr>
          <p:cNvPr id="24" name="TextBox 23"/>
          <p:cNvSpPr txBox="1"/>
          <p:nvPr/>
        </p:nvSpPr>
        <p:spPr>
          <a:xfrm>
            <a:off x="8275320" y="5029200"/>
            <a:ext cx="3474720" cy="1097280"/>
          </a:xfrm>
          <a:prstGeom prst="rect">
            <a:avLst/>
          </a:prstGeom>
          <a:noFill/>
        </p:spPr>
        <p:txBody>
          <a:bodyPr wrap="square" lIns="45720" rIns="45720">
            <a:spAutoFit/>
          </a:bodyPr>
          <a:lstStyle/>
          <a:p>
            <a:pPr algn="l"/>
            <a:r>
              <a:rPr sz="1000" b="0">
                <a:solidFill>
                  <a:srgbClr val="E8ECF1"/>
                </a:solidFill>
                <a:latin typeface="Calibri"/>
              </a:rPr>
              <a:t>Reordered steps: phase=10 assertion fires BEFORE the wait, immediately after transition_to_phase.</a:t>
            </a:r>
          </a:p>
        </p:txBody>
      </p:sp>
      <p:sp>
        <p:nvSpPr>
          <p:cNvPr id="25" name="TextBox 24"/>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8 / 14</a:t>
            </a:r>
          </a:p>
        </p:txBody>
      </p:sp>
      <p:sp>
        <p:nvSpPr>
          <p:cNvPr id="26" name="TextBox 25"/>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Deep dive: 372_ere_we_go_charge_modifier</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Type: engine-OK, scenario-needed-AI-off  ·  Result: 8/8 ✓</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600" b="1">
                <a:solidFill>
                  <a:srgbClr val="4EC5C1"/>
                </a:solidFill>
                <a:latin typeface="Calibri"/>
              </a:rPr>
              <a:t>Symptom</a:t>
            </a:r>
          </a:p>
        </p:txBody>
      </p:sp>
      <p:sp>
        <p:nvSpPr>
          <p:cNvPr id="7" name="TextBox 6"/>
          <p:cNvSpPr txBox="1"/>
          <p:nvPr/>
        </p:nvSpPr>
        <p:spPr>
          <a:xfrm>
            <a:off x="731520" y="1920240"/>
            <a:ext cx="10972800" cy="365760"/>
          </a:xfrm>
          <a:prstGeom prst="rect">
            <a:avLst/>
          </a:prstGeom>
          <a:noFill/>
        </p:spPr>
        <p:txBody>
          <a:bodyPr wrap="square" lIns="45720" rIns="45720">
            <a:spAutoFit/>
          </a:bodyPr>
          <a:lstStyle/>
          <a:p>
            <a:pPr algn="l"/>
            <a:r>
              <a:rPr sz="1300" b="0">
                <a:solidFill>
                  <a:srgbClr val="E8ECF1"/>
                </a:solidFill>
                <a:latin typeface="Courier New"/>
              </a:rPr>
              <a:t>DECLARE_CHARGE for U_BOYZ_E → U_SHIELD_CAPTAIN_A returns success=false</a:t>
            </a:r>
          </a:p>
        </p:txBody>
      </p:sp>
      <p:sp>
        <p:nvSpPr>
          <p:cNvPr id="8" name="TextBox 7"/>
          <p:cNvSpPr txBox="1"/>
          <p:nvPr/>
        </p:nvSpPr>
        <p:spPr>
          <a:xfrm>
            <a:off x="731520" y="2468880"/>
            <a:ext cx="10972800" cy="365760"/>
          </a:xfrm>
          <a:prstGeom prst="rect">
            <a:avLst/>
          </a:prstGeom>
          <a:noFill/>
        </p:spPr>
        <p:txBody>
          <a:bodyPr wrap="square" lIns="45720" rIns="45720">
            <a:spAutoFit/>
          </a:bodyPr>
          <a:lstStyle/>
          <a:p>
            <a:pPr algn="l"/>
            <a:r>
              <a:rPr sz="1600" b="1">
                <a:solidFill>
                  <a:srgbClr val="4EC5C1"/>
                </a:solidFill>
                <a:latin typeface="Calibri"/>
              </a:rPr>
              <a:t>Diagnosis</a:t>
            </a:r>
          </a:p>
        </p:txBody>
      </p:sp>
      <p:sp>
        <p:nvSpPr>
          <p:cNvPr id="9" name="TextBox 8"/>
          <p:cNvSpPr txBox="1"/>
          <p:nvPr/>
        </p:nvSpPr>
        <p:spPr>
          <a:xfrm>
            <a:off x="731520" y="2834640"/>
            <a:ext cx="10972800" cy="1828800"/>
          </a:xfrm>
          <a:prstGeom prst="rect">
            <a:avLst/>
          </a:prstGeom>
          <a:noFill/>
        </p:spPr>
        <p:txBody>
          <a:bodyPr wrap="square">
            <a:spAutoFit/>
          </a:bodyPr>
          <a:lstStyle/>
          <a:p>
            <a:pPr algn="l">
              <a:spcAft>
                <a:spcPts val="600"/>
              </a:spcAft>
            </a:pPr>
            <a:r>
              <a:rPr sz="1300" b="0">
                <a:solidFill>
                  <a:srgbClr val="E8ECF1"/>
                </a:solidFill>
                <a:latin typeface="Calibri"/>
              </a:rPr>
              <a:t>•  Fixture saves with active_player=2 and player2_type="AI" in game_config</a:t>
            </a:r>
          </a:p>
          <a:p>
            <a:pPr algn="l">
              <a:spcAft>
                <a:spcPts val="600"/>
              </a:spcAft>
            </a:pPr>
            <a:r>
              <a:rPr sz="1300" b="0">
                <a:solidFill>
                  <a:srgbClr val="E8ECF1"/>
                </a:solidFill>
                <a:latin typeface="Calibri"/>
              </a:rPr>
              <a:t>•  On scenario start, AIPlayer.enabled=true and the AI fires immediately for player 2</a:t>
            </a:r>
          </a:p>
          <a:p>
            <a:pPr algn="l">
              <a:spcAft>
                <a:spcPts val="600"/>
              </a:spcAft>
            </a:pPr>
            <a:r>
              <a:rPr sz="1300" b="0">
                <a:solidFill>
                  <a:srgbClr val="E8ECF1"/>
                </a:solidFill>
                <a:latin typeface="Calibri"/>
              </a:rPr>
              <a:t>•  AI executes SKIP_CHARGE for several units including U_BOYZ_E during the 0.5s wait</a:t>
            </a:r>
          </a:p>
          <a:p>
            <a:pPr algn="l">
              <a:spcAft>
                <a:spcPts val="600"/>
              </a:spcAft>
            </a:pPr>
            <a:r>
              <a:rPr sz="1300" b="0">
                <a:solidFill>
                  <a:srgbClr val="E8ECF1"/>
                </a:solidFill>
                <a:latin typeface="Calibri"/>
              </a:rPr>
              <a:t>•  By scenario's dispatch_action, U_BOYZ_E is in ChargeController.completed_charges</a:t>
            </a:r>
          </a:p>
          <a:p>
            <a:pPr algn="l">
              <a:spcAft>
                <a:spcPts val="600"/>
              </a:spcAft>
            </a:pPr>
            <a:r>
              <a:rPr sz="1300" b="0">
                <a:solidFill>
                  <a:srgbClr val="E8ECF1"/>
                </a:solidFill>
                <a:latin typeface="Calibri"/>
              </a:rPr>
              <a:t>•  Engine correctly rejects: "unit already completed this phase"</a:t>
            </a:r>
          </a:p>
        </p:txBody>
      </p:sp>
      <p:sp>
        <p:nvSpPr>
          <p:cNvPr id="10" name="TextBox 9"/>
          <p:cNvSpPr txBox="1"/>
          <p:nvPr/>
        </p:nvSpPr>
        <p:spPr>
          <a:xfrm>
            <a:off x="731520" y="5212080"/>
            <a:ext cx="10972800" cy="365760"/>
          </a:xfrm>
          <a:prstGeom prst="rect">
            <a:avLst/>
          </a:prstGeom>
          <a:noFill/>
        </p:spPr>
        <p:txBody>
          <a:bodyPr wrap="square" lIns="45720" rIns="45720">
            <a:spAutoFit/>
          </a:bodyPr>
          <a:lstStyle/>
          <a:p>
            <a:pPr algn="l"/>
            <a:r>
              <a:rPr sz="1600" b="1">
                <a:solidFill>
                  <a:srgbClr val="4EC5C1"/>
                </a:solidFill>
                <a:latin typeface="Calibri"/>
              </a:rPr>
              <a:t>Fix</a:t>
            </a:r>
          </a:p>
        </p:txBody>
      </p:sp>
      <p:sp>
        <p:nvSpPr>
          <p:cNvPr id="11" name="TextBox 10"/>
          <p:cNvSpPr txBox="1"/>
          <p:nvPr/>
        </p:nvSpPr>
        <p:spPr>
          <a:xfrm>
            <a:off x="731520" y="5577840"/>
            <a:ext cx="10972800" cy="365760"/>
          </a:xfrm>
          <a:prstGeom prst="rect">
            <a:avLst/>
          </a:prstGeom>
          <a:noFill/>
        </p:spPr>
        <p:txBody>
          <a:bodyPr wrap="square" lIns="45720" rIns="45720">
            <a:spAutoFit/>
          </a:bodyPr>
          <a:lstStyle/>
          <a:p>
            <a:pPr algn="l"/>
            <a:r>
              <a:rPr sz="1400" b="0">
                <a:solidFill>
                  <a:srgbClr val="E8ECF1"/>
                </a:solidFill>
                <a:latin typeface="Courier New"/>
              </a:rPr>
              <a:t>New optional scenario field:  "disable_ai": true</a:t>
            </a:r>
          </a:p>
        </p:txBody>
      </p:sp>
      <p:sp>
        <p:nvSpPr>
          <p:cNvPr id="12" name="TextBox 11"/>
          <p:cNvSpPr txBox="1"/>
          <p:nvPr/>
        </p:nvSpPr>
        <p:spPr>
          <a:xfrm>
            <a:off x="731520" y="5943600"/>
            <a:ext cx="10972800" cy="365760"/>
          </a:xfrm>
          <a:prstGeom prst="rect">
            <a:avLst/>
          </a:prstGeom>
          <a:noFill/>
        </p:spPr>
        <p:txBody>
          <a:bodyPr wrap="square" lIns="45720" rIns="45720">
            <a:spAutoFit/>
          </a:bodyPr>
          <a:lstStyle/>
          <a:p>
            <a:pPr algn="l"/>
            <a:r>
              <a:rPr sz="1100" b="0">
                <a:solidFill>
                  <a:srgbClr val="A6AEBA"/>
                </a:solidFill>
                <a:latin typeface="Calibri"/>
              </a:rPr>
              <a:t>ScenarioRunner sets AIPlayer.enabled=false after fixture load. Defaults off — preserves AI for scenarios that test it (e.g. fight_self_targeting).</a:t>
            </a:r>
          </a:p>
        </p:txBody>
      </p:sp>
      <p:sp>
        <p:nvSpPr>
          <p:cNvPr id="13" name="TextBox 12"/>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9 / 14</a:t>
            </a:r>
          </a:p>
        </p:txBody>
      </p:sp>
      <p:sp>
        <p:nvSpPr>
          <p:cNvPr id="14" name="TextBox 13"/>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Deep dive: 373_lone_operative_guard</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Type: SCENARIO was wrong vs 10e rules  ·  Result: 11/11 ✓</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600" b="1">
                <a:solidFill>
                  <a:srgbClr val="4EC5C1"/>
                </a:solidFill>
                <a:latin typeface="Calibri"/>
              </a:rPr>
              <a:t>Symptom</a:t>
            </a:r>
          </a:p>
        </p:txBody>
      </p:sp>
      <p:sp>
        <p:nvSpPr>
          <p:cNvPr id="7" name="TextBox 6"/>
          <p:cNvSpPr txBox="1"/>
          <p:nvPr/>
        </p:nvSpPr>
        <p:spPr>
          <a:xfrm>
            <a:off x="731520" y="1920240"/>
            <a:ext cx="10972800" cy="914400"/>
          </a:xfrm>
          <a:prstGeom prst="rect">
            <a:avLst/>
          </a:prstGeom>
          <a:noFill/>
        </p:spPr>
        <p:txBody>
          <a:bodyPr wrap="square">
            <a:spAutoFit/>
          </a:bodyPr>
          <a:lstStyle/>
          <a:p>
            <a:pPr algn="l">
              <a:spcAft>
                <a:spcPts val="600"/>
              </a:spcAft>
            </a:pPr>
            <a:r>
              <a:rPr sz="1300" b="0">
                <a:solidFill>
                  <a:srgbClr val="E8ECF1"/>
                </a:solidFill>
                <a:latin typeface="Calibri"/>
              </a:rPr>
              <a:t>•  Step 4 fail: expected DECLARE_LEADER_ATTACHMENT to FAIL (got success=true)</a:t>
            </a:r>
          </a:p>
          <a:p>
            <a:pPr algn="l">
              <a:spcAft>
                <a:spcPts val="600"/>
              </a:spcAft>
            </a:pPr>
            <a:r>
              <a:rPr sz="1300" b="0">
                <a:solidFill>
                  <a:srgbClr val="E8ECF1"/>
                </a:solidFill>
                <a:latin typeface="Calibri"/>
              </a:rPr>
              <a:t>•  Step 7 fail: expected next attachment to succeed (got success=false — cascade)</a:t>
            </a:r>
          </a:p>
        </p:txBody>
      </p:sp>
      <p:sp>
        <p:nvSpPr>
          <p:cNvPr id="8" name="TextBox 7"/>
          <p:cNvSpPr txBox="1"/>
          <p:nvPr/>
        </p:nvSpPr>
        <p:spPr>
          <a:xfrm>
            <a:off x="731520" y="3108960"/>
            <a:ext cx="10972800" cy="365760"/>
          </a:xfrm>
          <a:prstGeom prst="rect">
            <a:avLst/>
          </a:prstGeom>
          <a:noFill/>
        </p:spPr>
        <p:txBody>
          <a:bodyPr wrap="square" lIns="45720" rIns="45720">
            <a:spAutoFit/>
          </a:bodyPr>
          <a:lstStyle/>
          <a:p>
            <a:pPr algn="l"/>
            <a:r>
              <a:rPr sz="1600" b="1">
                <a:solidFill>
                  <a:srgbClr val="4EC5C1"/>
                </a:solidFill>
                <a:latin typeface="Calibri"/>
              </a:rPr>
              <a:t>Diagnosis</a:t>
            </a:r>
          </a:p>
        </p:txBody>
      </p:sp>
      <p:sp>
        <p:nvSpPr>
          <p:cNvPr id="9" name="TextBox 8"/>
          <p:cNvSpPr txBox="1"/>
          <p:nvPr/>
        </p:nvSpPr>
        <p:spPr>
          <a:xfrm>
            <a:off x="731520" y="3474720"/>
            <a:ext cx="10972800" cy="1371600"/>
          </a:xfrm>
          <a:prstGeom prst="rect">
            <a:avLst/>
          </a:prstGeom>
          <a:noFill/>
        </p:spPr>
        <p:txBody>
          <a:bodyPr wrap="square" lIns="45720" rIns="45720">
            <a:spAutoFit/>
          </a:bodyPr>
          <a:lstStyle/>
          <a:p>
            <a:pPr algn="l"/>
            <a:r>
              <a:rPr sz="1200" b="0">
                <a:solidFill>
                  <a:srgbClr val="E8ECF1"/>
                </a:solidFill>
                <a:latin typeface="Calibri"/>
              </a:rPr>
              <a:t>FormationsPhase.gd:197-199 has an explicit comment: "10e: Lone Operative is a targeting restriction (\"unless part of an Attached unit, can only be targeted within 12\"\"). It does NOT prevent attachment. Characters with both Leader and Lone Operative (e.g. Boss Snikrot) CAN attach."
Engine was correctly updated for 10e; scenario was written under the old rule interpretation and never updated.</a:t>
            </a:r>
          </a:p>
        </p:txBody>
      </p:sp>
      <p:sp>
        <p:nvSpPr>
          <p:cNvPr id="10" name="TextBox 9"/>
          <p:cNvSpPr txBox="1"/>
          <p:nvPr/>
        </p:nvSpPr>
        <p:spPr>
          <a:xfrm>
            <a:off x="731520" y="5394960"/>
            <a:ext cx="10972800" cy="365760"/>
          </a:xfrm>
          <a:prstGeom prst="rect">
            <a:avLst/>
          </a:prstGeom>
          <a:noFill/>
        </p:spPr>
        <p:txBody>
          <a:bodyPr wrap="square" lIns="45720" rIns="45720">
            <a:spAutoFit/>
          </a:bodyPr>
          <a:lstStyle/>
          <a:p>
            <a:pPr algn="l"/>
            <a:r>
              <a:rPr sz="1600" b="1">
                <a:solidFill>
                  <a:srgbClr val="4EC5C1"/>
                </a:solidFill>
                <a:latin typeface="Calibri"/>
              </a:rPr>
              <a:t>Fix</a:t>
            </a:r>
          </a:p>
        </p:txBody>
      </p:sp>
      <p:sp>
        <p:nvSpPr>
          <p:cNvPr id="11" name="TextBox 10"/>
          <p:cNvSpPr txBox="1"/>
          <p:nvPr/>
        </p:nvSpPr>
        <p:spPr>
          <a:xfrm>
            <a:off x="731520" y="5760720"/>
            <a:ext cx="10972800" cy="548640"/>
          </a:xfrm>
          <a:prstGeom prst="rect">
            <a:avLst/>
          </a:prstGeom>
          <a:noFill/>
        </p:spPr>
        <p:txBody>
          <a:bodyPr wrap="square" lIns="45720" rIns="45720">
            <a:spAutoFit/>
          </a:bodyPr>
          <a:lstStyle/>
          <a:p>
            <a:pPr algn="l"/>
            <a:r>
              <a:rPr sz="1200" b="0">
                <a:solidFill>
                  <a:srgbClr val="A6AEBA"/>
                </a:solidFill>
                <a:latin typeface="Calibri"/>
              </a:rPr>
              <a:t>Flipped expectations: LO Blade Champion now expected to attach successfully, undeclares cleanly, then Shield Captain (non-LO) attaches normally.</a:t>
            </a:r>
          </a:p>
        </p:txBody>
      </p:sp>
      <p:sp>
        <p:nvSpPr>
          <p:cNvPr id="12" name="TextBox 11"/>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10 / 14</a:t>
            </a:r>
          </a:p>
        </p:txBody>
      </p:sp>
      <p:sp>
        <p:nvSpPr>
          <p:cNvPr id="13" name="TextBox 12"/>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Deep dive: fight_self_targeting</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Type: flaky-assertion ordering  ·  Result: 4/4 ✓</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600" b="1">
                <a:solidFill>
                  <a:srgbClr val="4EC5C1"/>
                </a:solidFill>
                <a:latin typeface="Calibri"/>
              </a:rPr>
              <a:t>Symptom</a:t>
            </a:r>
          </a:p>
        </p:txBody>
      </p:sp>
      <p:sp>
        <p:nvSpPr>
          <p:cNvPr id="7" name="TextBox 6"/>
          <p:cNvSpPr txBox="1"/>
          <p:nvPr/>
        </p:nvSpPr>
        <p:spPr>
          <a:xfrm>
            <a:off x="731520" y="1920240"/>
            <a:ext cx="10972800" cy="365760"/>
          </a:xfrm>
          <a:prstGeom prst="rect">
            <a:avLst/>
          </a:prstGeom>
          <a:noFill/>
        </p:spPr>
        <p:txBody>
          <a:bodyPr wrap="square" lIns="45720" rIns="45720">
            <a:spAutoFit/>
          </a:bodyPr>
          <a:lstStyle/>
          <a:p>
            <a:pPr algn="l"/>
            <a:r>
              <a:rPr sz="1300" b="0">
                <a:solidFill>
                  <a:srgbClr val="E8ECF1"/>
                </a:solidFill>
                <a:latin typeface="Courier New"/>
              </a:rPr>
              <a:t>expect_state meta.phase: expected 10.0, got 6  (engine in CommandPhase)</a:t>
            </a:r>
          </a:p>
        </p:txBody>
      </p:sp>
      <p:sp>
        <p:nvSpPr>
          <p:cNvPr id="8" name="TextBox 7"/>
          <p:cNvSpPr txBox="1"/>
          <p:nvPr/>
        </p:nvSpPr>
        <p:spPr>
          <a:xfrm>
            <a:off x="731520" y="2468880"/>
            <a:ext cx="10972800" cy="365760"/>
          </a:xfrm>
          <a:prstGeom prst="rect">
            <a:avLst/>
          </a:prstGeom>
          <a:noFill/>
        </p:spPr>
        <p:txBody>
          <a:bodyPr wrap="square" lIns="45720" rIns="45720">
            <a:spAutoFit/>
          </a:bodyPr>
          <a:lstStyle/>
          <a:p>
            <a:pPr algn="l"/>
            <a:r>
              <a:rPr sz="1600" b="1">
                <a:solidFill>
                  <a:srgbClr val="4EC5C1"/>
                </a:solidFill>
                <a:latin typeface="Calibri"/>
              </a:rPr>
              <a:t>Diagnosis</a:t>
            </a:r>
          </a:p>
        </p:txBody>
      </p:sp>
      <p:sp>
        <p:nvSpPr>
          <p:cNvPr id="9" name="TextBox 8"/>
          <p:cNvSpPr txBox="1"/>
          <p:nvPr/>
        </p:nvSpPr>
        <p:spPr>
          <a:xfrm>
            <a:off x="731520" y="2834640"/>
            <a:ext cx="10972800" cy="2011680"/>
          </a:xfrm>
          <a:prstGeom prst="rect">
            <a:avLst/>
          </a:prstGeom>
          <a:noFill/>
        </p:spPr>
        <p:txBody>
          <a:bodyPr wrap="square">
            <a:spAutoFit/>
          </a:bodyPr>
          <a:lstStyle/>
          <a:p>
            <a:pPr algn="l">
              <a:spcAft>
                <a:spcPts val="600"/>
              </a:spcAft>
            </a:pPr>
            <a:r>
              <a:rPr sz="1300" b="0">
                <a:solidFill>
                  <a:srgbClr val="E8ECF1"/>
                </a:solidFill>
                <a:latin typeface="Calibri"/>
              </a:rPr>
              <a:t>•  This scenario WANTS AI behaviour preserved — it tests "does AI self-target?"</a:t>
            </a:r>
          </a:p>
          <a:p>
            <a:pPr algn="l">
              <a:spcAft>
                <a:spcPts val="600"/>
              </a:spcAft>
            </a:pPr>
            <a:r>
              <a:rPr sz="1300" b="0">
                <a:solidFill>
                  <a:srgbClr val="E8ECF1"/>
                </a:solidFill>
                <a:latin typeface="Calibri"/>
              </a:rPr>
              <a:t>•  disable_ai:true is wrong here (would defeat the test's purpose)</a:t>
            </a:r>
          </a:p>
          <a:p>
            <a:pPr algn="l">
              <a:spcAft>
                <a:spcPts val="600"/>
              </a:spcAft>
            </a:pPr>
            <a:r>
              <a:rPr sz="1300" b="0">
                <a:solidFill>
                  <a:srgbClr val="E8ECF1"/>
                </a:solidFill>
                <a:latin typeface="Calibri"/>
              </a:rPr>
              <a:t>•  Original order:  wait_seconds:1.0 → expect_state phase=10</a:t>
            </a:r>
          </a:p>
          <a:p>
            <a:pPr algn="l">
              <a:spcAft>
                <a:spcPts val="600"/>
              </a:spcAft>
            </a:pPr>
            <a:r>
              <a:rPr sz="1300" b="0">
                <a:solidFill>
                  <a:srgbClr val="E8ECF1"/>
                </a:solidFill>
                <a:latin typeface="Calibri"/>
              </a:rPr>
              <a:t>•  During that 1s, AI raced through fight phase + scoring + start-of-next-turn</a:t>
            </a:r>
          </a:p>
          <a:p>
            <a:pPr algn="l">
              <a:spcAft>
                <a:spcPts val="600"/>
              </a:spcAft>
            </a:pPr>
            <a:r>
              <a:rPr sz="1300" b="0">
                <a:solidFill>
                  <a:srgbClr val="E8ECF1"/>
                </a:solidFill>
                <a:latin typeface="Calibri"/>
              </a:rPr>
              <a:t>•  By the assertion, the engine was 5 phases past where the scenario expected it</a:t>
            </a:r>
          </a:p>
        </p:txBody>
      </p:sp>
      <p:sp>
        <p:nvSpPr>
          <p:cNvPr id="10" name="TextBox 9"/>
          <p:cNvSpPr txBox="1"/>
          <p:nvPr/>
        </p:nvSpPr>
        <p:spPr>
          <a:xfrm>
            <a:off x="731520" y="5303520"/>
            <a:ext cx="10972800" cy="365760"/>
          </a:xfrm>
          <a:prstGeom prst="rect">
            <a:avLst/>
          </a:prstGeom>
          <a:noFill/>
        </p:spPr>
        <p:txBody>
          <a:bodyPr wrap="square" lIns="45720" rIns="45720">
            <a:spAutoFit/>
          </a:bodyPr>
          <a:lstStyle/>
          <a:p>
            <a:pPr algn="l"/>
            <a:r>
              <a:rPr sz="1600" b="1">
                <a:solidFill>
                  <a:srgbClr val="4EC5C1"/>
                </a:solidFill>
                <a:latin typeface="Calibri"/>
              </a:rPr>
              <a:t>Fix</a:t>
            </a:r>
          </a:p>
        </p:txBody>
      </p:sp>
      <p:sp>
        <p:nvSpPr>
          <p:cNvPr id="11" name="TextBox 10"/>
          <p:cNvSpPr txBox="1"/>
          <p:nvPr/>
        </p:nvSpPr>
        <p:spPr>
          <a:xfrm>
            <a:off x="731520" y="5669280"/>
            <a:ext cx="10972800" cy="548640"/>
          </a:xfrm>
          <a:prstGeom prst="rect">
            <a:avLst/>
          </a:prstGeom>
          <a:noFill/>
        </p:spPr>
        <p:txBody>
          <a:bodyPr wrap="square" lIns="45720" rIns="45720">
            <a:spAutoFit/>
          </a:bodyPr>
          <a:lstStyle/>
          <a:p>
            <a:pPr algn="l"/>
            <a:r>
              <a:rPr sz="1200" b="0">
                <a:solidFill>
                  <a:srgbClr val="A6AEBA"/>
                </a:solidFill>
                <a:latin typeface="Calibri"/>
              </a:rPr>
              <a:t>Reordered: phase=10 assertion fires FIRST (immediately after the runner's transition_to_phase), THEN wait+screenshot for AI to act. Description updated — scenario is observational; goldens are the deliverable.</a:t>
            </a:r>
          </a:p>
        </p:txBody>
      </p:sp>
      <p:sp>
        <p:nvSpPr>
          <p:cNvPr id="12" name="TextBox 11"/>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11 / 14</a:t>
            </a:r>
          </a:p>
        </p:txBody>
      </p:sp>
      <p:sp>
        <p:nvSpPr>
          <p:cNvPr id="13" name="TextBox 12"/>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5 questions for senior-eng review</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Where I'd most value an experienced second opinion</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400" b="1">
                <a:solidFill>
                  <a:srgbClr val="4EC5C1"/>
                </a:solidFill>
                <a:latin typeface="Calibri"/>
              </a:rPr>
              <a:t>❓ Is the critic verdict taxonomy correct?</a:t>
            </a:r>
          </a:p>
        </p:txBody>
      </p:sp>
      <p:sp>
        <p:nvSpPr>
          <p:cNvPr id="7" name="TextBox 6"/>
          <p:cNvSpPr txBox="1"/>
          <p:nvPr/>
        </p:nvSpPr>
        <p:spPr>
          <a:xfrm>
            <a:off x="1005840" y="1920240"/>
            <a:ext cx="10515600" cy="548640"/>
          </a:xfrm>
          <a:prstGeom prst="rect">
            <a:avLst/>
          </a:prstGeom>
          <a:noFill/>
        </p:spPr>
        <p:txBody>
          <a:bodyPr wrap="square" lIns="45720" rIns="45720">
            <a:spAutoFit/>
          </a:bodyPr>
          <a:lstStyle/>
          <a:p>
            <a:pPr algn="l"/>
            <a:r>
              <a:rPr sz="1200" b="0">
                <a:solidFill>
                  <a:srgbClr val="A6AEBA"/>
                </a:solidFill>
                <a:latin typeface="Calibri"/>
              </a:rPr>
              <a:t>Currently: real_regression / intentional_change_needs_bless / flake_rerun / scenario_bug. Right buckets? Right schema?</a:t>
            </a:r>
          </a:p>
        </p:txBody>
      </p:sp>
      <p:sp>
        <p:nvSpPr>
          <p:cNvPr id="8" name="TextBox 7"/>
          <p:cNvSpPr txBox="1"/>
          <p:nvPr/>
        </p:nvSpPr>
        <p:spPr>
          <a:xfrm>
            <a:off x="731520" y="2468880"/>
            <a:ext cx="10972800" cy="365760"/>
          </a:xfrm>
          <a:prstGeom prst="rect">
            <a:avLst/>
          </a:prstGeom>
          <a:noFill/>
        </p:spPr>
        <p:txBody>
          <a:bodyPr wrap="square" lIns="45720" rIns="45720">
            <a:spAutoFit/>
          </a:bodyPr>
          <a:lstStyle/>
          <a:p>
            <a:pPr algn="l"/>
            <a:r>
              <a:rPr sz="1400" b="1">
                <a:solidFill>
                  <a:srgbClr val="4EC5C1"/>
                </a:solidFill>
                <a:latin typeface="Calibri"/>
              </a:rPr>
              <a:t>❓ Are the pre-commit-loop guardrails the right set?</a:t>
            </a:r>
          </a:p>
        </p:txBody>
      </p:sp>
      <p:sp>
        <p:nvSpPr>
          <p:cNvPr id="9" name="TextBox 8"/>
          <p:cNvSpPr txBox="1"/>
          <p:nvPr/>
        </p:nvSpPr>
        <p:spPr>
          <a:xfrm>
            <a:off x="1005840" y="2834640"/>
            <a:ext cx="10515600" cy="548640"/>
          </a:xfrm>
          <a:prstGeom prst="rect">
            <a:avLst/>
          </a:prstGeom>
          <a:noFill/>
        </p:spPr>
        <p:txBody>
          <a:bodyPr wrap="square" lIns="45720" rIns="45720">
            <a:spAutoFit/>
          </a:bodyPr>
          <a:lstStyle/>
          <a:p>
            <a:pPr algn="l"/>
            <a:r>
              <a:rPr sz="1200" b="0">
                <a:solidFill>
                  <a:srgbClr val="A6AEBA"/>
                </a:solidFill>
                <a:latin typeface="Calibri"/>
              </a:rPr>
              <a:t>"Scenarios immutable" means a fixer can never propose a scenario change — even when the scenario IS the bug (as in 373). Relax, or require human-in-loop?</a:t>
            </a:r>
          </a:p>
        </p:txBody>
      </p:sp>
      <p:sp>
        <p:nvSpPr>
          <p:cNvPr id="10" name="TextBox 9"/>
          <p:cNvSpPr txBox="1"/>
          <p:nvPr/>
        </p:nvSpPr>
        <p:spPr>
          <a:xfrm>
            <a:off x="731520" y="3383280"/>
            <a:ext cx="10972800" cy="365760"/>
          </a:xfrm>
          <a:prstGeom prst="rect">
            <a:avLst/>
          </a:prstGeom>
          <a:noFill/>
        </p:spPr>
        <p:txBody>
          <a:bodyPr wrap="square" lIns="45720" rIns="45720">
            <a:spAutoFit/>
          </a:bodyPr>
          <a:lstStyle/>
          <a:p>
            <a:pPr algn="l"/>
            <a:r>
              <a:rPr sz="1400" b="1">
                <a:solidFill>
                  <a:srgbClr val="4EC5C1"/>
                </a:solidFill>
                <a:latin typeface="Calibri"/>
              </a:rPr>
              <a:t>❓ Is per-step screenshot too expensive?</a:t>
            </a:r>
          </a:p>
        </p:txBody>
      </p:sp>
      <p:sp>
        <p:nvSpPr>
          <p:cNvPr id="11" name="TextBox 10"/>
          <p:cNvSpPr txBox="1"/>
          <p:nvPr/>
        </p:nvSpPr>
        <p:spPr>
          <a:xfrm>
            <a:off x="1005840" y="3749040"/>
            <a:ext cx="10515600" cy="548640"/>
          </a:xfrm>
          <a:prstGeom prst="rect">
            <a:avLst/>
          </a:prstGeom>
          <a:noFill/>
        </p:spPr>
        <p:txBody>
          <a:bodyPr wrap="square" lIns="45720" rIns="45720">
            <a:spAutoFit/>
          </a:bodyPr>
          <a:lstStyle/>
          <a:p>
            <a:pPr algn="l"/>
            <a:r>
              <a:rPr sz="1200" b="0">
                <a:solidFill>
                  <a:srgbClr val="A6AEBA"/>
                </a:solidFill>
                <a:latin typeface="Calibri"/>
              </a:rPr>
              <a:t>~10–30 PNGs per scenario. Storage fine, but baseline drift on a theme change touches every scenario at once.</a:t>
            </a:r>
          </a:p>
        </p:txBody>
      </p:sp>
      <p:sp>
        <p:nvSpPr>
          <p:cNvPr id="12" name="TextBox 11"/>
          <p:cNvSpPr txBox="1"/>
          <p:nvPr/>
        </p:nvSpPr>
        <p:spPr>
          <a:xfrm>
            <a:off x="731520" y="4297680"/>
            <a:ext cx="10972800" cy="365760"/>
          </a:xfrm>
          <a:prstGeom prst="rect">
            <a:avLst/>
          </a:prstGeom>
          <a:noFill/>
        </p:spPr>
        <p:txBody>
          <a:bodyPr wrap="square" lIns="45720" rIns="45720">
            <a:spAutoFit/>
          </a:bodyPr>
          <a:lstStyle/>
          <a:p>
            <a:pPr algn="l"/>
            <a:r>
              <a:rPr sz="1400" b="1">
                <a:solidFill>
                  <a:srgbClr val="4EC5C1"/>
                </a:solidFill>
                <a:latin typeface="Calibri"/>
              </a:rPr>
              <a:t>❓ Every PR or nightly?</a:t>
            </a:r>
          </a:p>
        </p:txBody>
      </p:sp>
      <p:sp>
        <p:nvSpPr>
          <p:cNvPr id="13" name="TextBox 12"/>
          <p:cNvSpPr txBox="1"/>
          <p:nvPr/>
        </p:nvSpPr>
        <p:spPr>
          <a:xfrm>
            <a:off x="1005840" y="4663440"/>
            <a:ext cx="10515600" cy="548640"/>
          </a:xfrm>
          <a:prstGeom prst="rect">
            <a:avLst/>
          </a:prstGeom>
          <a:noFill/>
        </p:spPr>
        <p:txBody>
          <a:bodyPr wrap="square" lIns="45720" rIns="45720">
            <a:spAutoFit/>
          </a:bodyPr>
          <a:lstStyle/>
          <a:p>
            <a:pPr algn="l"/>
            <a:r>
              <a:rPr sz="1200" b="0">
                <a:solidFill>
                  <a:srgbClr val="A6AEBA"/>
                </a:solidFill>
                <a:latin typeface="Calibri"/>
              </a:rPr>
              <a:t>Cold-start + 25 scenarios × 30s ≈ 12 min per full sweep. Per-PR if scoped to changed code paths; full sweep is a nightly job.</a:t>
            </a:r>
          </a:p>
        </p:txBody>
      </p:sp>
      <p:sp>
        <p:nvSpPr>
          <p:cNvPr id="14" name="TextBox 13"/>
          <p:cNvSpPr txBox="1"/>
          <p:nvPr/>
        </p:nvSpPr>
        <p:spPr>
          <a:xfrm>
            <a:off x="731520" y="5212080"/>
            <a:ext cx="10972800" cy="365760"/>
          </a:xfrm>
          <a:prstGeom prst="rect">
            <a:avLst/>
          </a:prstGeom>
          <a:noFill/>
        </p:spPr>
        <p:txBody>
          <a:bodyPr wrap="square" lIns="45720" rIns="45720">
            <a:spAutoFit/>
          </a:bodyPr>
          <a:lstStyle/>
          <a:p>
            <a:pPr algn="l"/>
            <a:r>
              <a:rPr sz="1400" b="1">
                <a:solidFill>
                  <a:srgbClr val="4EC5C1"/>
                </a:solidFill>
                <a:latin typeface="Calibri"/>
              </a:rPr>
              <a:t>❓ Orphan coverage tiles — block before declaring done?</a:t>
            </a:r>
          </a:p>
        </p:txBody>
      </p:sp>
      <p:sp>
        <p:nvSpPr>
          <p:cNvPr id="15" name="TextBox 14"/>
          <p:cNvSpPr txBox="1"/>
          <p:nvPr/>
        </p:nvSpPr>
        <p:spPr>
          <a:xfrm>
            <a:off x="1005840" y="5577840"/>
            <a:ext cx="10515600" cy="548640"/>
          </a:xfrm>
          <a:prstGeom prst="rect">
            <a:avLst/>
          </a:prstGeom>
          <a:noFill/>
        </p:spPr>
        <p:txBody>
          <a:bodyPr wrap="square" lIns="45720" rIns="45720">
            <a:spAutoFit/>
          </a:bodyPr>
          <a:lstStyle/>
          <a:p>
            <a:pPr algn="l"/>
            <a:r>
              <a:rPr sz="1200" b="0">
                <a:solidFill>
                  <a:srgbClr val="A6AEBA"/>
                </a:solidFill>
                <a:latin typeface="Calibri"/>
              </a:rPr>
              <a:t>I added tiles for the 4 I touched. ~26 remain. Should I have blocked on those?</a:t>
            </a:r>
          </a:p>
        </p:txBody>
      </p:sp>
      <p:sp>
        <p:nvSpPr>
          <p:cNvPr id="16" name="TextBox 15"/>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12 / 14</a:t>
            </a:r>
          </a:p>
        </p:txBody>
      </p:sp>
      <p:sp>
        <p:nvSpPr>
          <p:cNvPr id="17" name="TextBox 16"/>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How to verify the work</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All commands run from the repo root</a:t>
            </a:r>
          </a:p>
        </p:txBody>
      </p:sp>
      <p:sp>
        <p:nvSpPr>
          <p:cNvPr id="6" name="TextBox 5"/>
          <p:cNvSpPr txBox="1"/>
          <p:nvPr/>
        </p:nvSpPr>
        <p:spPr>
          <a:xfrm>
            <a:off x="731520" y="1554480"/>
            <a:ext cx="10972800" cy="365760"/>
          </a:xfrm>
          <a:prstGeom prst="rect">
            <a:avLst/>
          </a:prstGeom>
          <a:noFill/>
        </p:spPr>
        <p:txBody>
          <a:bodyPr wrap="square" lIns="45720" rIns="45720">
            <a:spAutoFit/>
          </a:bodyPr>
          <a:lstStyle/>
          <a:p>
            <a:pPr algn="l"/>
            <a:r>
              <a:rPr sz="1200" b="0">
                <a:solidFill>
                  <a:srgbClr val="A6AEBA"/>
                </a:solidFill>
                <a:latin typeface="Courier New"/>
              </a:rPr>
              <a:t># 1. Run the loop driver against a single scenario</a:t>
            </a:r>
          </a:p>
        </p:txBody>
      </p:sp>
      <p:sp>
        <p:nvSpPr>
          <p:cNvPr id="7" name="TextBox 6"/>
          <p:cNvSpPr txBox="1"/>
          <p:nvPr/>
        </p:nvSpPr>
        <p:spPr>
          <a:xfrm>
            <a:off x="731520" y="1874519"/>
            <a:ext cx="10972800" cy="914400"/>
          </a:xfrm>
          <a:prstGeom prst="rect">
            <a:avLst/>
          </a:prstGeom>
          <a:noFill/>
        </p:spPr>
        <p:txBody>
          <a:bodyPr wrap="square" lIns="45720" rIns="45720">
            <a:spAutoFit/>
          </a:bodyPr>
          <a:lstStyle/>
          <a:p>
            <a:pPr algn="l"/>
            <a:r>
              <a:rPr sz="1100" b="0">
                <a:solidFill>
                  <a:srgbClr val="4EC5C1"/>
                </a:solidFill>
                <a:latin typeface="Courier New"/>
              </a:rPr>
              <a:t>bash scripts/loop/run_one_scenario_loop.sh tests/scenarios/sp/runner_smoke.json</a:t>
            </a:r>
          </a:p>
        </p:txBody>
      </p:sp>
      <p:sp>
        <p:nvSpPr>
          <p:cNvPr id="8" name="TextBox 7"/>
          <p:cNvSpPr txBox="1"/>
          <p:nvPr/>
        </p:nvSpPr>
        <p:spPr>
          <a:xfrm>
            <a:off x="731520" y="2697480"/>
            <a:ext cx="10972800" cy="365760"/>
          </a:xfrm>
          <a:prstGeom prst="rect">
            <a:avLst/>
          </a:prstGeom>
          <a:noFill/>
        </p:spPr>
        <p:txBody>
          <a:bodyPr wrap="square" lIns="45720" rIns="45720">
            <a:spAutoFit/>
          </a:bodyPr>
          <a:lstStyle/>
          <a:p>
            <a:pPr algn="l"/>
            <a:r>
              <a:rPr sz="1200" b="0">
                <a:solidFill>
                  <a:srgbClr val="A6AEBA"/>
                </a:solidFill>
                <a:latin typeface="Courier New"/>
              </a:rPr>
              <a:t># 2. Run loop with bless (creates goldens on first pass)</a:t>
            </a:r>
          </a:p>
        </p:txBody>
      </p:sp>
      <p:sp>
        <p:nvSpPr>
          <p:cNvPr id="9" name="TextBox 8"/>
          <p:cNvSpPr txBox="1"/>
          <p:nvPr/>
        </p:nvSpPr>
        <p:spPr>
          <a:xfrm>
            <a:off x="731520" y="3017520"/>
            <a:ext cx="10972800" cy="914400"/>
          </a:xfrm>
          <a:prstGeom prst="rect">
            <a:avLst/>
          </a:prstGeom>
          <a:noFill/>
        </p:spPr>
        <p:txBody>
          <a:bodyPr wrap="square" lIns="45720" rIns="45720">
            <a:spAutoFit/>
          </a:bodyPr>
          <a:lstStyle/>
          <a:p>
            <a:pPr algn="l"/>
            <a:r>
              <a:rPr sz="1100" b="0">
                <a:solidFill>
                  <a:srgbClr val="4EC5C1"/>
                </a:solidFill>
                <a:latin typeface="Courier New"/>
              </a:rPr>
              <a:t>bash scripts/loop/run_one_scenario_loop.sh --bless tests/scenarios/sp/runner_smoke.json</a:t>
            </a:r>
          </a:p>
        </p:txBody>
      </p:sp>
      <p:sp>
        <p:nvSpPr>
          <p:cNvPr id="10" name="TextBox 9"/>
          <p:cNvSpPr txBox="1"/>
          <p:nvPr/>
        </p:nvSpPr>
        <p:spPr>
          <a:xfrm>
            <a:off x="731520" y="3840480"/>
            <a:ext cx="10972800" cy="365760"/>
          </a:xfrm>
          <a:prstGeom prst="rect">
            <a:avLst/>
          </a:prstGeom>
          <a:noFill/>
        </p:spPr>
        <p:txBody>
          <a:bodyPr wrap="square" lIns="45720" rIns="45720">
            <a:spAutoFit/>
          </a:bodyPr>
          <a:lstStyle/>
          <a:p>
            <a:pPr algn="l"/>
            <a:r>
              <a:rPr sz="1200" b="0">
                <a:solidFill>
                  <a:srgbClr val="A6AEBA"/>
                </a:solidFill>
                <a:latin typeface="Courier New"/>
              </a:rPr>
              <a:t># 3. Confirm the 3 reds are fixed</a:t>
            </a:r>
          </a:p>
        </p:txBody>
      </p:sp>
      <p:sp>
        <p:nvSpPr>
          <p:cNvPr id="11" name="TextBox 10"/>
          <p:cNvSpPr txBox="1"/>
          <p:nvPr/>
        </p:nvSpPr>
        <p:spPr>
          <a:xfrm>
            <a:off x="731520" y="4160520"/>
            <a:ext cx="10972800" cy="914400"/>
          </a:xfrm>
          <a:prstGeom prst="rect">
            <a:avLst/>
          </a:prstGeom>
          <a:noFill/>
        </p:spPr>
        <p:txBody>
          <a:bodyPr wrap="square" lIns="45720" rIns="45720">
            <a:spAutoFit/>
          </a:bodyPr>
          <a:lstStyle/>
          <a:p>
            <a:pPr algn="l"/>
            <a:r>
              <a:rPr sz="1100" b="0">
                <a:solidFill>
                  <a:srgbClr val="4EC5C1"/>
                </a:solidFill>
                <a:latin typeface="Courier New"/>
              </a:rPr>
              <a:t>for s in 372_ere_we_go_charge_modifier 373_lone_operative_guard fight_self_targeting; do
  xvfb-run -a godot --path 40k --scenario-file=tests/scenarios/sp/${s}.json 2&gt;&amp;1 | grep ===
done</a:t>
            </a:r>
          </a:p>
        </p:txBody>
      </p:sp>
      <p:sp>
        <p:nvSpPr>
          <p:cNvPr id="12" name="TextBox 11"/>
          <p:cNvSpPr txBox="1"/>
          <p:nvPr/>
        </p:nvSpPr>
        <p:spPr>
          <a:xfrm>
            <a:off x="731520" y="4983480"/>
            <a:ext cx="10972800" cy="365760"/>
          </a:xfrm>
          <a:prstGeom prst="rect">
            <a:avLst/>
          </a:prstGeom>
          <a:noFill/>
        </p:spPr>
        <p:txBody>
          <a:bodyPr wrap="square" lIns="45720" rIns="45720">
            <a:spAutoFit/>
          </a:bodyPr>
          <a:lstStyle/>
          <a:p>
            <a:pPr algn="l"/>
            <a:r>
              <a:rPr sz="1200" b="0">
                <a:solidFill>
                  <a:srgbClr val="A6AEBA"/>
                </a:solidFill>
                <a:latin typeface="Courier New"/>
              </a:rPr>
              <a:t># 4. See the critic / playbook</a:t>
            </a:r>
          </a:p>
        </p:txBody>
      </p:sp>
      <p:sp>
        <p:nvSpPr>
          <p:cNvPr id="13" name="TextBox 12"/>
          <p:cNvSpPr txBox="1"/>
          <p:nvPr/>
        </p:nvSpPr>
        <p:spPr>
          <a:xfrm>
            <a:off x="731520" y="5303520"/>
            <a:ext cx="10972800" cy="914400"/>
          </a:xfrm>
          <a:prstGeom prst="rect">
            <a:avLst/>
          </a:prstGeom>
          <a:noFill/>
        </p:spPr>
        <p:txBody>
          <a:bodyPr wrap="square" lIns="45720" rIns="45720">
            <a:spAutoFit/>
          </a:bodyPr>
          <a:lstStyle/>
          <a:p>
            <a:pPr algn="l"/>
            <a:r>
              <a:rPr sz="1100" b="0">
                <a:solidFill>
                  <a:srgbClr val="4EC5C1"/>
                </a:solidFill>
                <a:latin typeface="Courier New"/>
              </a:rPr>
              <a:t>cat scripts/loop/critic_prompt.md
cat scripts/loop/playbook.md</a:t>
            </a:r>
          </a:p>
        </p:txBody>
      </p:sp>
      <p:sp>
        <p:nvSpPr>
          <p:cNvPr id="14" name="TextBox 13"/>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13 / 14</a:t>
            </a:r>
          </a:p>
        </p:txBody>
      </p:sp>
      <p:sp>
        <p:nvSpPr>
          <p:cNvPr id="15" name="TextBox 14"/>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37160" cy="548640"/>
          </a:xfrm>
          <a:prstGeom prst="rect">
            <a:avLst/>
          </a:prstGeom>
          <a:solidFill>
            <a:srgbClr val="4E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972800" cy="548640"/>
          </a:xfrm>
          <a:prstGeom prst="rect">
            <a:avLst/>
          </a:prstGeom>
          <a:noFill/>
        </p:spPr>
        <p:txBody>
          <a:bodyPr wrap="square" lIns="45720" rIns="45720">
            <a:spAutoFit/>
          </a:bodyPr>
          <a:lstStyle/>
          <a:p>
            <a:pPr algn="l"/>
            <a:r>
              <a:rPr sz="2800" b="1">
                <a:solidFill>
                  <a:srgbClr val="E8ECF1"/>
                </a:solidFill>
                <a:latin typeface="Calibri"/>
              </a:rPr>
              <a:t>Files &amp; branches reference</a:t>
            </a:r>
          </a:p>
        </p:txBody>
      </p:sp>
      <p:sp>
        <p:nvSpPr>
          <p:cNvPr id="5" name="TextBox 4"/>
          <p:cNvSpPr txBox="1"/>
          <p:nvPr/>
        </p:nvSpPr>
        <p:spPr>
          <a:xfrm>
            <a:off x="731520" y="914400"/>
            <a:ext cx="10972800" cy="365760"/>
          </a:xfrm>
          <a:prstGeom prst="rect">
            <a:avLst/>
          </a:prstGeom>
          <a:noFill/>
        </p:spPr>
        <p:txBody>
          <a:bodyPr wrap="square" lIns="45720" rIns="45720">
            <a:spAutoFit/>
          </a:bodyPr>
          <a:lstStyle/>
          <a:p>
            <a:pPr algn="l"/>
            <a:r>
              <a:rPr sz="1400" b="0">
                <a:solidFill>
                  <a:srgbClr val="A6AEBA"/>
                </a:solidFill>
                <a:latin typeface="Calibri"/>
              </a:rPr>
              <a:t>For the reviewer who wants a deep-dive</a:t>
            </a:r>
          </a:p>
        </p:txBody>
      </p:sp>
      <p:sp>
        <p:nvSpPr>
          <p:cNvPr id="6" name="TextBox 5"/>
          <p:cNvSpPr txBox="1"/>
          <p:nvPr/>
        </p:nvSpPr>
        <p:spPr>
          <a:xfrm>
            <a:off x="731520" y="1554480"/>
            <a:ext cx="5486400" cy="365760"/>
          </a:xfrm>
          <a:prstGeom prst="rect">
            <a:avLst/>
          </a:prstGeom>
          <a:noFill/>
        </p:spPr>
        <p:txBody>
          <a:bodyPr wrap="square" lIns="45720" rIns="45720">
            <a:spAutoFit/>
          </a:bodyPr>
          <a:lstStyle/>
          <a:p>
            <a:pPr algn="l"/>
            <a:r>
              <a:rPr sz="1600" b="1">
                <a:solidFill>
                  <a:srgbClr val="4EC5C1"/>
                </a:solidFill>
                <a:latin typeface="Calibri"/>
              </a:rPr>
              <a:t>Key files</a:t>
            </a:r>
          </a:p>
        </p:txBody>
      </p:sp>
      <p:sp>
        <p:nvSpPr>
          <p:cNvPr id="7" name="TextBox 6"/>
          <p:cNvSpPr txBox="1"/>
          <p:nvPr/>
        </p:nvSpPr>
        <p:spPr>
          <a:xfrm>
            <a:off x="731520" y="2011680"/>
            <a:ext cx="4572000" cy="274320"/>
          </a:xfrm>
          <a:prstGeom prst="rect">
            <a:avLst/>
          </a:prstGeom>
          <a:noFill/>
        </p:spPr>
        <p:txBody>
          <a:bodyPr wrap="square" lIns="45720" rIns="45720">
            <a:spAutoFit/>
          </a:bodyPr>
          <a:lstStyle/>
          <a:p>
            <a:pPr algn="l"/>
            <a:r>
              <a:rPr sz="1000" b="0">
                <a:solidFill>
                  <a:srgbClr val="4EC5C1"/>
                </a:solidFill>
                <a:latin typeface="Courier New"/>
              </a:rPr>
              <a:t>.llm/visual-regression-loop-plan.md</a:t>
            </a:r>
          </a:p>
        </p:txBody>
      </p:sp>
      <p:sp>
        <p:nvSpPr>
          <p:cNvPr id="8" name="TextBox 7"/>
          <p:cNvSpPr txBox="1"/>
          <p:nvPr/>
        </p:nvSpPr>
        <p:spPr>
          <a:xfrm>
            <a:off x="731520" y="2240280"/>
            <a:ext cx="4572000" cy="274320"/>
          </a:xfrm>
          <a:prstGeom prst="rect">
            <a:avLst/>
          </a:prstGeom>
          <a:noFill/>
        </p:spPr>
        <p:txBody>
          <a:bodyPr wrap="square" lIns="45720" rIns="45720">
            <a:spAutoFit/>
          </a:bodyPr>
          <a:lstStyle/>
          <a:p>
            <a:pPr algn="l"/>
            <a:r>
              <a:rPr sz="1000" b="0">
                <a:solidFill>
                  <a:srgbClr val="A6AEBA"/>
                </a:solidFill>
                <a:latin typeface="Calibri"/>
              </a:rPr>
              <a:t>design doc the 7 phases implement</a:t>
            </a:r>
          </a:p>
        </p:txBody>
      </p:sp>
      <p:sp>
        <p:nvSpPr>
          <p:cNvPr id="9" name="TextBox 8"/>
          <p:cNvSpPr txBox="1"/>
          <p:nvPr/>
        </p:nvSpPr>
        <p:spPr>
          <a:xfrm>
            <a:off x="731520" y="2514600"/>
            <a:ext cx="4572000" cy="274320"/>
          </a:xfrm>
          <a:prstGeom prst="rect">
            <a:avLst/>
          </a:prstGeom>
          <a:noFill/>
        </p:spPr>
        <p:txBody>
          <a:bodyPr wrap="square" lIns="45720" rIns="45720">
            <a:spAutoFit/>
          </a:bodyPr>
          <a:lstStyle/>
          <a:p>
            <a:pPr algn="l"/>
            <a:r>
              <a:rPr sz="1000" b="0">
                <a:solidFill>
                  <a:srgbClr val="4EC5C1"/>
                </a:solidFill>
                <a:latin typeface="Courier New"/>
              </a:rPr>
              <a:t>40k/autoloads/ScenarioRunner.gd</a:t>
            </a:r>
          </a:p>
        </p:txBody>
      </p:sp>
      <p:sp>
        <p:nvSpPr>
          <p:cNvPr id="10" name="TextBox 9"/>
          <p:cNvSpPr txBox="1"/>
          <p:nvPr/>
        </p:nvSpPr>
        <p:spPr>
          <a:xfrm>
            <a:off x="731520" y="2743200"/>
            <a:ext cx="4572000" cy="274320"/>
          </a:xfrm>
          <a:prstGeom prst="rect">
            <a:avLst/>
          </a:prstGeom>
          <a:noFill/>
        </p:spPr>
        <p:txBody>
          <a:bodyPr wrap="square" lIns="45720" rIns="45720">
            <a:spAutoFit/>
          </a:bodyPr>
          <a:lstStyle/>
          <a:p>
            <a:pPr algn="l"/>
            <a:r>
              <a:rPr sz="1000" b="0">
                <a:solidFill>
                  <a:srgbClr val="A6AEBA"/>
                </a:solidFill>
                <a:latin typeface="Calibri"/>
              </a:rPr>
              <a:t>screenshot mode, dry-run, disable_ai</a:t>
            </a:r>
          </a:p>
        </p:txBody>
      </p:sp>
      <p:sp>
        <p:nvSpPr>
          <p:cNvPr id="11" name="TextBox 10"/>
          <p:cNvSpPr txBox="1"/>
          <p:nvPr/>
        </p:nvSpPr>
        <p:spPr>
          <a:xfrm>
            <a:off x="731520" y="3017520"/>
            <a:ext cx="4572000" cy="274320"/>
          </a:xfrm>
          <a:prstGeom prst="rect">
            <a:avLst/>
          </a:prstGeom>
          <a:noFill/>
        </p:spPr>
        <p:txBody>
          <a:bodyPr wrap="square" lIns="45720" rIns="45720">
            <a:spAutoFit/>
          </a:bodyPr>
          <a:lstStyle/>
          <a:p>
            <a:pPr algn="l"/>
            <a:r>
              <a:rPr sz="1000" b="0">
                <a:solidFill>
                  <a:srgbClr val="4EC5C1"/>
                </a:solidFill>
                <a:latin typeface="Courier New"/>
              </a:rPr>
              <a:t>scripts/loop/run_one_scenario_loop.sh</a:t>
            </a:r>
          </a:p>
        </p:txBody>
      </p:sp>
      <p:sp>
        <p:nvSpPr>
          <p:cNvPr id="12" name="TextBox 11"/>
          <p:cNvSpPr txBox="1"/>
          <p:nvPr/>
        </p:nvSpPr>
        <p:spPr>
          <a:xfrm>
            <a:off x="731520" y="3246120"/>
            <a:ext cx="4572000" cy="274320"/>
          </a:xfrm>
          <a:prstGeom prst="rect">
            <a:avLst/>
          </a:prstGeom>
          <a:noFill/>
        </p:spPr>
        <p:txBody>
          <a:bodyPr wrap="square" lIns="45720" rIns="45720">
            <a:spAutoFit/>
          </a:bodyPr>
          <a:lstStyle/>
          <a:p>
            <a:pPr algn="l"/>
            <a:r>
              <a:rPr sz="1000" b="0">
                <a:solidFill>
                  <a:srgbClr val="A6AEBA"/>
                </a:solidFill>
                <a:latin typeface="Calibri"/>
              </a:rPr>
              <a:t>the canonical entry point</a:t>
            </a:r>
          </a:p>
        </p:txBody>
      </p:sp>
      <p:sp>
        <p:nvSpPr>
          <p:cNvPr id="13" name="TextBox 12"/>
          <p:cNvSpPr txBox="1"/>
          <p:nvPr/>
        </p:nvSpPr>
        <p:spPr>
          <a:xfrm>
            <a:off x="731520" y="3520439"/>
            <a:ext cx="4572000" cy="274320"/>
          </a:xfrm>
          <a:prstGeom prst="rect">
            <a:avLst/>
          </a:prstGeom>
          <a:noFill/>
        </p:spPr>
        <p:txBody>
          <a:bodyPr wrap="square" lIns="45720" rIns="45720">
            <a:spAutoFit/>
          </a:bodyPr>
          <a:lstStyle/>
          <a:p>
            <a:pPr algn="l"/>
            <a:r>
              <a:rPr sz="1000" b="0">
                <a:solidFill>
                  <a:srgbClr val="4EC5C1"/>
                </a:solidFill>
                <a:latin typeface="Courier New"/>
              </a:rPr>
              <a:t>scripts/loop/golden_diff.py</a:t>
            </a:r>
          </a:p>
        </p:txBody>
      </p:sp>
      <p:sp>
        <p:nvSpPr>
          <p:cNvPr id="14" name="TextBox 13"/>
          <p:cNvSpPr txBox="1"/>
          <p:nvPr/>
        </p:nvSpPr>
        <p:spPr>
          <a:xfrm>
            <a:off x="731520" y="3749039"/>
            <a:ext cx="4572000" cy="274320"/>
          </a:xfrm>
          <a:prstGeom prst="rect">
            <a:avLst/>
          </a:prstGeom>
          <a:noFill/>
        </p:spPr>
        <p:txBody>
          <a:bodyPr wrap="square" lIns="45720" rIns="45720">
            <a:spAutoFit/>
          </a:bodyPr>
          <a:lstStyle/>
          <a:p>
            <a:pPr algn="l"/>
            <a:r>
              <a:rPr sz="1000" b="0">
                <a:solidFill>
                  <a:srgbClr val="A6AEBA"/>
                </a:solidFill>
                <a:latin typeface="Calibri"/>
              </a:rPr>
              <a:t>PHASH diff + thresholds</a:t>
            </a:r>
          </a:p>
        </p:txBody>
      </p:sp>
      <p:sp>
        <p:nvSpPr>
          <p:cNvPr id="15" name="TextBox 14"/>
          <p:cNvSpPr txBox="1"/>
          <p:nvPr/>
        </p:nvSpPr>
        <p:spPr>
          <a:xfrm>
            <a:off x="731520" y="4023359"/>
            <a:ext cx="4572000" cy="274320"/>
          </a:xfrm>
          <a:prstGeom prst="rect">
            <a:avLst/>
          </a:prstGeom>
          <a:noFill/>
        </p:spPr>
        <p:txBody>
          <a:bodyPr wrap="square" lIns="45720" rIns="45720">
            <a:spAutoFit/>
          </a:bodyPr>
          <a:lstStyle/>
          <a:p>
            <a:pPr algn="l"/>
            <a:r>
              <a:rPr sz="1000" b="0">
                <a:solidFill>
                  <a:srgbClr val="4EC5C1"/>
                </a:solidFill>
                <a:latin typeface="Courier New"/>
              </a:rPr>
              <a:t>scripts/loop/critic_prompt.md</a:t>
            </a:r>
          </a:p>
        </p:txBody>
      </p:sp>
      <p:sp>
        <p:nvSpPr>
          <p:cNvPr id="16" name="TextBox 15"/>
          <p:cNvSpPr txBox="1"/>
          <p:nvPr/>
        </p:nvSpPr>
        <p:spPr>
          <a:xfrm>
            <a:off x="731520" y="4251959"/>
            <a:ext cx="4572000" cy="274320"/>
          </a:xfrm>
          <a:prstGeom prst="rect">
            <a:avLst/>
          </a:prstGeom>
          <a:noFill/>
        </p:spPr>
        <p:txBody>
          <a:bodyPr wrap="square" lIns="45720" rIns="45720">
            <a:spAutoFit/>
          </a:bodyPr>
          <a:lstStyle/>
          <a:p>
            <a:pPr algn="l"/>
            <a:r>
              <a:rPr sz="1000" b="0">
                <a:solidFill>
                  <a:srgbClr val="A6AEBA"/>
                </a:solidFill>
                <a:latin typeface="Calibri"/>
              </a:rPr>
              <a:t>Claude Agent prompt for critic</a:t>
            </a:r>
          </a:p>
        </p:txBody>
      </p:sp>
      <p:sp>
        <p:nvSpPr>
          <p:cNvPr id="17" name="TextBox 16"/>
          <p:cNvSpPr txBox="1"/>
          <p:nvPr/>
        </p:nvSpPr>
        <p:spPr>
          <a:xfrm>
            <a:off x="731520" y="4526279"/>
            <a:ext cx="4572000" cy="274320"/>
          </a:xfrm>
          <a:prstGeom prst="rect">
            <a:avLst/>
          </a:prstGeom>
          <a:noFill/>
        </p:spPr>
        <p:txBody>
          <a:bodyPr wrap="square" lIns="45720" rIns="45720">
            <a:spAutoFit/>
          </a:bodyPr>
          <a:lstStyle/>
          <a:p>
            <a:pPr algn="l"/>
            <a:r>
              <a:rPr sz="1000" b="0">
                <a:solidFill>
                  <a:srgbClr val="4EC5C1"/>
                </a:solidFill>
                <a:latin typeface="Courier New"/>
              </a:rPr>
              <a:t>scripts/loop/fixer_prompt.md</a:t>
            </a:r>
          </a:p>
        </p:txBody>
      </p:sp>
      <p:sp>
        <p:nvSpPr>
          <p:cNvPr id="18" name="TextBox 17"/>
          <p:cNvSpPr txBox="1"/>
          <p:nvPr/>
        </p:nvSpPr>
        <p:spPr>
          <a:xfrm>
            <a:off x="731520" y="4754879"/>
            <a:ext cx="4572000" cy="274320"/>
          </a:xfrm>
          <a:prstGeom prst="rect">
            <a:avLst/>
          </a:prstGeom>
          <a:noFill/>
        </p:spPr>
        <p:txBody>
          <a:bodyPr wrap="square" lIns="45720" rIns="45720">
            <a:spAutoFit/>
          </a:bodyPr>
          <a:lstStyle/>
          <a:p>
            <a:pPr algn="l"/>
            <a:r>
              <a:rPr sz="1000" b="0">
                <a:solidFill>
                  <a:srgbClr val="A6AEBA"/>
                </a:solidFill>
                <a:latin typeface="Calibri"/>
              </a:rPr>
              <a:t>Claude Agent prompt for fixer</a:t>
            </a:r>
          </a:p>
        </p:txBody>
      </p:sp>
      <p:sp>
        <p:nvSpPr>
          <p:cNvPr id="19" name="TextBox 18"/>
          <p:cNvSpPr txBox="1"/>
          <p:nvPr/>
        </p:nvSpPr>
        <p:spPr>
          <a:xfrm>
            <a:off x="731520" y="5029199"/>
            <a:ext cx="4572000" cy="274320"/>
          </a:xfrm>
          <a:prstGeom prst="rect">
            <a:avLst/>
          </a:prstGeom>
          <a:noFill/>
        </p:spPr>
        <p:txBody>
          <a:bodyPr wrap="square" lIns="45720" rIns="45720">
            <a:spAutoFit/>
          </a:bodyPr>
          <a:lstStyle/>
          <a:p>
            <a:pPr algn="l"/>
            <a:r>
              <a:rPr sz="1000" b="0">
                <a:solidFill>
                  <a:srgbClr val="4EC5C1"/>
                </a:solidFill>
                <a:latin typeface="Courier New"/>
              </a:rPr>
              <a:t>scripts/loop/playbook.md</a:t>
            </a:r>
          </a:p>
        </p:txBody>
      </p:sp>
      <p:sp>
        <p:nvSpPr>
          <p:cNvPr id="20" name="TextBox 19"/>
          <p:cNvSpPr txBox="1"/>
          <p:nvPr/>
        </p:nvSpPr>
        <p:spPr>
          <a:xfrm>
            <a:off x="731520" y="5257799"/>
            <a:ext cx="4572000" cy="274320"/>
          </a:xfrm>
          <a:prstGeom prst="rect">
            <a:avLst/>
          </a:prstGeom>
          <a:noFill/>
        </p:spPr>
        <p:txBody>
          <a:bodyPr wrap="square" lIns="45720" rIns="45720">
            <a:spAutoFit/>
          </a:bodyPr>
          <a:lstStyle/>
          <a:p>
            <a:pPr algn="l"/>
            <a:r>
              <a:rPr sz="1000" b="0">
                <a:solidFill>
                  <a:srgbClr val="A6AEBA"/>
                </a:solidFill>
                <a:latin typeface="Calibri"/>
              </a:rPr>
              <a:t>runbook for cloud-session iteration</a:t>
            </a:r>
          </a:p>
        </p:txBody>
      </p:sp>
      <p:sp>
        <p:nvSpPr>
          <p:cNvPr id="21" name="TextBox 20"/>
          <p:cNvSpPr txBox="1"/>
          <p:nvPr/>
        </p:nvSpPr>
        <p:spPr>
          <a:xfrm>
            <a:off x="731520" y="5532119"/>
            <a:ext cx="4572000" cy="274320"/>
          </a:xfrm>
          <a:prstGeom prst="rect">
            <a:avLst/>
          </a:prstGeom>
          <a:noFill/>
        </p:spPr>
        <p:txBody>
          <a:bodyPr wrap="square" lIns="45720" rIns="45720">
            <a:spAutoFit/>
          </a:bodyPr>
          <a:lstStyle/>
          <a:p>
            <a:pPr algn="l"/>
            <a:r>
              <a:rPr sz="1000" b="0">
                <a:solidFill>
                  <a:srgbClr val="4EC5C1"/>
                </a:solidFill>
                <a:latin typeface="Courier New"/>
              </a:rPr>
              <a:t>.githooks/pre-commit-loop</a:t>
            </a:r>
          </a:p>
        </p:txBody>
      </p:sp>
      <p:sp>
        <p:nvSpPr>
          <p:cNvPr id="22" name="TextBox 21"/>
          <p:cNvSpPr txBox="1"/>
          <p:nvPr/>
        </p:nvSpPr>
        <p:spPr>
          <a:xfrm>
            <a:off x="731520" y="5760719"/>
            <a:ext cx="4572000" cy="274320"/>
          </a:xfrm>
          <a:prstGeom prst="rect">
            <a:avLst/>
          </a:prstGeom>
          <a:noFill/>
        </p:spPr>
        <p:txBody>
          <a:bodyPr wrap="square" lIns="45720" rIns="45720">
            <a:spAutoFit/>
          </a:bodyPr>
          <a:lstStyle/>
          <a:p>
            <a:pPr algn="l"/>
            <a:r>
              <a:rPr sz="1000" b="0">
                <a:solidFill>
                  <a:srgbClr val="A6AEBA"/>
                </a:solidFill>
                <a:latin typeface="Calibri"/>
              </a:rPr>
              <a:t>mechanical guardrails on fixer commits</a:t>
            </a:r>
          </a:p>
        </p:txBody>
      </p:sp>
      <p:sp>
        <p:nvSpPr>
          <p:cNvPr id="23" name="TextBox 22"/>
          <p:cNvSpPr txBox="1"/>
          <p:nvPr/>
        </p:nvSpPr>
        <p:spPr>
          <a:xfrm>
            <a:off x="6400800" y="1554480"/>
            <a:ext cx="5486400" cy="365760"/>
          </a:xfrm>
          <a:prstGeom prst="rect">
            <a:avLst/>
          </a:prstGeom>
          <a:noFill/>
        </p:spPr>
        <p:txBody>
          <a:bodyPr wrap="square" lIns="45720" rIns="45720">
            <a:spAutoFit/>
          </a:bodyPr>
          <a:lstStyle/>
          <a:p>
            <a:pPr algn="l"/>
            <a:r>
              <a:rPr sz="1600" b="1">
                <a:solidFill>
                  <a:srgbClr val="4EC5C1"/>
                </a:solidFill>
                <a:latin typeface="Calibri"/>
              </a:rPr>
              <a:t>Branches (all pushed)</a:t>
            </a:r>
          </a:p>
        </p:txBody>
      </p:sp>
      <p:sp>
        <p:nvSpPr>
          <p:cNvPr id="24" name="TextBox 23"/>
          <p:cNvSpPr txBox="1"/>
          <p:nvPr/>
        </p:nvSpPr>
        <p:spPr>
          <a:xfrm>
            <a:off x="6400800" y="2011680"/>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a:t>
            </a:r>
          </a:p>
        </p:txBody>
      </p:sp>
      <p:sp>
        <p:nvSpPr>
          <p:cNvPr id="25" name="TextBox 24"/>
          <p:cNvSpPr txBox="1"/>
          <p:nvPr/>
        </p:nvSpPr>
        <p:spPr>
          <a:xfrm>
            <a:off x="6400800" y="2240280"/>
            <a:ext cx="5029200" cy="274320"/>
          </a:xfrm>
          <a:prstGeom prst="rect">
            <a:avLst/>
          </a:prstGeom>
          <a:noFill/>
        </p:spPr>
        <p:txBody>
          <a:bodyPr wrap="square" lIns="45720" rIns="45720">
            <a:spAutoFit/>
          </a:bodyPr>
          <a:lstStyle/>
          <a:p>
            <a:pPr algn="l"/>
            <a:r>
              <a:rPr sz="1000" b="0">
                <a:solidFill>
                  <a:srgbClr val="A6AEBA"/>
                </a:solidFill>
                <a:latin typeface="Calibri"/>
              </a:rPr>
              <a:t>Phase 1</a:t>
            </a:r>
          </a:p>
        </p:txBody>
      </p:sp>
      <p:sp>
        <p:nvSpPr>
          <p:cNvPr id="26" name="TextBox 25"/>
          <p:cNvSpPr txBox="1"/>
          <p:nvPr/>
        </p:nvSpPr>
        <p:spPr>
          <a:xfrm>
            <a:off x="6400800" y="2514600"/>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claude/visual-regression-loop-phase2</a:t>
            </a:r>
          </a:p>
        </p:txBody>
      </p:sp>
      <p:sp>
        <p:nvSpPr>
          <p:cNvPr id="27" name="TextBox 26"/>
          <p:cNvSpPr txBox="1"/>
          <p:nvPr/>
        </p:nvSpPr>
        <p:spPr>
          <a:xfrm>
            <a:off x="6400800" y="2743200"/>
            <a:ext cx="5029200" cy="274320"/>
          </a:xfrm>
          <a:prstGeom prst="rect">
            <a:avLst/>
          </a:prstGeom>
          <a:noFill/>
        </p:spPr>
        <p:txBody>
          <a:bodyPr wrap="square" lIns="45720" rIns="45720">
            <a:spAutoFit/>
          </a:bodyPr>
          <a:lstStyle/>
          <a:p>
            <a:pPr algn="l"/>
            <a:r>
              <a:rPr sz="1000" b="0">
                <a:solidFill>
                  <a:srgbClr val="A6AEBA"/>
                </a:solidFill>
                <a:latin typeface="Calibri"/>
              </a:rPr>
              <a:t>Phase 2</a:t>
            </a:r>
          </a:p>
        </p:txBody>
      </p:sp>
      <p:sp>
        <p:nvSpPr>
          <p:cNvPr id="28" name="TextBox 27"/>
          <p:cNvSpPr txBox="1"/>
          <p:nvPr/>
        </p:nvSpPr>
        <p:spPr>
          <a:xfrm>
            <a:off x="6400800" y="3017520"/>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claude/visual-regression-loop-phase3</a:t>
            </a:r>
          </a:p>
        </p:txBody>
      </p:sp>
      <p:sp>
        <p:nvSpPr>
          <p:cNvPr id="29" name="TextBox 28"/>
          <p:cNvSpPr txBox="1"/>
          <p:nvPr/>
        </p:nvSpPr>
        <p:spPr>
          <a:xfrm>
            <a:off x="6400800" y="3246120"/>
            <a:ext cx="5029200" cy="274320"/>
          </a:xfrm>
          <a:prstGeom prst="rect">
            <a:avLst/>
          </a:prstGeom>
          <a:noFill/>
        </p:spPr>
        <p:txBody>
          <a:bodyPr wrap="square" lIns="45720" rIns="45720">
            <a:spAutoFit/>
          </a:bodyPr>
          <a:lstStyle/>
          <a:p>
            <a:pPr algn="l"/>
            <a:r>
              <a:rPr sz="1000" b="0">
                <a:solidFill>
                  <a:srgbClr val="A6AEBA"/>
                </a:solidFill>
                <a:latin typeface="Calibri"/>
              </a:rPr>
              <a:t>Phase 3</a:t>
            </a:r>
          </a:p>
        </p:txBody>
      </p:sp>
      <p:sp>
        <p:nvSpPr>
          <p:cNvPr id="30" name="TextBox 29"/>
          <p:cNvSpPr txBox="1"/>
          <p:nvPr/>
        </p:nvSpPr>
        <p:spPr>
          <a:xfrm>
            <a:off x="6400800" y="3520439"/>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claude/visual-regression-loop-phase5</a:t>
            </a:r>
          </a:p>
        </p:txBody>
      </p:sp>
      <p:sp>
        <p:nvSpPr>
          <p:cNvPr id="31" name="TextBox 30"/>
          <p:cNvSpPr txBox="1"/>
          <p:nvPr/>
        </p:nvSpPr>
        <p:spPr>
          <a:xfrm>
            <a:off x="6400800" y="3749039"/>
            <a:ext cx="5029200" cy="274320"/>
          </a:xfrm>
          <a:prstGeom prst="rect">
            <a:avLst/>
          </a:prstGeom>
          <a:noFill/>
        </p:spPr>
        <p:txBody>
          <a:bodyPr wrap="square" lIns="45720" rIns="45720">
            <a:spAutoFit/>
          </a:bodyPr>
          <a:lstStyle/>
          <a:p>
            <a:pPr algn="l"/>
            <a:r>
              <a:rPr sz="1000" b="0">
                <a:solidFill>
                  <a:srgbClr val="A6AEBA"/>
                </a:solidFill>
                <a:latin typeface="Calibri"/>
              </a:rPr>
              <a:t>Phase 5</a:t>
            </a:r>
          </a:p>
        </p:txBody>
      </p:sp>
      <p:sp>
        <p:nvSpPr>
          <p:cNvPr id="32" name="TextBox 31"/>
          <p:cNvSpPr txBox="1"/>
          <p:nvPr/>
        </p:nvSpPr>
        <p:spPr>
          <a:xfrm>
            <a:off x="6400800" y="4023359"/>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claude/visual-regression-loop-phase6</a:t>
            </a:r>
          </a:p>
        </p:txBody>
      </p:sp>
      <p:sp>
        <p:nvSpPr>
          <p:cNvPr id="33" name="TextBox 32"/>
          <p:cNvSpPr txBox="1"/>
          <p:nvPr/>
        </p:nvSpPr>
        <p:spPr>
          <a:xfrm>
            <a:off x="6400800" y="4251959"/>
            <a:ext cx="5029200" cy="274320"/>
          </a:xfrm>
          <a:prstGeom prst="rect">
            <a:avLst/>
          </a:prstGeom>
          <a:noFill/>
        </p:spPr>
        <p:txBody>
          <a:bodyPr wrap="square" lIns="45720" rIns="45720">
            <a:spAutoFit/>
          </a:bodyPr>
          <a:lstStyle/>
          <a:p>
            <a:pPr algn="l"/>
            <a:r>
              <a:rPr sz="1000" b="0">
                <a:solidFill>
                  <a:srgbClr val="A6AEBA"/>
                </a:solidFill>
                <a:latin typeface="Calibri"/>
              </a:rPr>
              <a:t>Phase 6</a:t>
            </a:r>
          </a:p>
        </p:txBody>
      </p:sp>
      <p:sp>
        <p:nvSpPr>
          <p:cNvPr id="34" name="TextBox 33"/>
          <p:cNvSpPr txBox="1"/>
          <p:nvPr/>
        </p:nvSpPr>
        <p:spPr>
          <a:xfrm>
            <a:off x="6400800" y="4526279"/>
            <a:ext cx="5029200" cy="274320"/>
          </a:xfrm>
          <a:prstGeom prst="rect">
            <a:avLst/>
          </a:prstGeom>
          <a:noFill/>
        </p:spPr>
        <p:txBody>
          <a:bodyPr wrap="square" lIns="45720" rIns="45720">
            <a:spAutoFit/>
          </a:bodyPr>
          <a:lstStyle/>
          <a:p>
            <a:pPr algn="l"/>
            <a:r>
              <a:rPr sz="1000" b="0">
                <a:solidFill>
                  <a:srgbClr val="4EC5C1"/>
                </a:solidFill>
                <a:latin typeface="Courier New"/>
              </a:rPr>
              <a:t>claude/visual-regression-loop-phase7</a:t>
            </a:r>
          </a:p>
        </p:txBody>
      </p:sp>
      <p:sp>
        <p:nvSpPr>
          <p:cNvPr id="35" name="TextBox 34"/>
          <p:cNvSpPr txBox="1"/>
          <p:nvPr/>
        </p:nvSpPr>
        <p:spPr>
          <a:xfrm>
            <a:off x="6400800" y="4754879"/>
            <a:ext cx="5029200" cy="274320"/>
          </a:xfrm>
          <a:prstGeom prst="rect">
            <a:avLst/>
          </a:prstGeom>
          <a:noFill/>
        </p:spPr>
        <p:txBody>
          <a:bodyPr wrap="square" lIns="45720" rIns="45720">
            <a:spAutoFit/>
          </a:bodyPr>
          <a:lstStyle/>
          <a:p>
            <a:pPr algn="l"/>
            <a:r>
              <a:rPr sz="1000" b="0">
                <a:solidFill>
                  <a:srgbClr val="A6AEBA"/>
                </a:solidFill>
                <a:latin typeface="Calibri"/>
              </a:rPr>
              <a:t>Phase 7</a:t>
            </a:r>
          </a:p>
        </p:txBody>
      </p:sp>
      <p:sp>
        <p:nvSpPr>
          <p:cNvPr id="36" name="TextBox 35"/>
          <p:cNvSpPr txBox="1"/>
          <p:nvPr/>
        </p:nvSpPr>
        <p:spPr>
          <a:xfrm>
            <a:off x="6400800" y="5029199"/>
            <a:ext cx="5029200" cy="274320"/>
          </a:xfrm>
          <a:prstGeom prst="rect">
            <a:avLst/>
          </a:prstGeom>
          <a:noFill/>
        </p:spPr>
        <p:txBody>
          <a:bodyPr wrap="square" lIns="45720" rIns="45720">
            <a:spAutoFit/>
          </a:bodyPr>
          <a:lstStyle/>
          <a:p>
            <a:pPr algn="l"/>
            <a:r>
              <a:rPr sz="1000" b="0">
                <a:solidFill>
                  <a:srgbClr val="4EC5C1"/>
                </a:solidFill>
                <a:latin typeface="Courier New"/>
              </a:rPr>
              <a:t>claude/fix-scenario-reds</a:t>
            </a:r>
          </a:p>
        </p:txBody>
      </p:sp>
      <p:sp>
        <p:nvSpPr>
          <p:cNvPr id="37" name="TextBox 36"/>
          <p:cNvSpPr txBox="1"/>
          <p:nvPr/>
        </p:nvSpPr>
        <p:spPr>
          <a:xfrm>
            <a:off x="6400800" y="5257799"/>
            <a:ext cx="5029200" cy="274320"/>
          </a:xfrm>
          <a:prstGeom prst="rect">
            <a:avLst/>
          </a:prstGeom>
          <a:noFill/>
        </p:spPr>
        <p:txBody>
          <a:bodyPr wrap="square" lIns="45720" rIns="45720">
            <a:spAutoFit/>
          </a:bodyPr>
          <a:lstStyle/>
          <a:p>
            <a:pPr algn="l"/>
            <a:r>
              <a:rPr sz="1000" b="0">
                <a:solidFill>
                  <a:srgbClr val="A6AEBA"/>
                </a:solidFill>
                <a:latin typeface="Calibri"/>
              </a:rPr>
              <a:t>follow-up (this deck lives here)</a:t>
            </a:r>
          </a:p>
        </p:txBody>
      </p:sp>
      <p:sp>
        <p:nvSpPr>
          <p:cNvPr id="38" name="TextBox 37"/>
          <p:cNvSpPr txBox="1"/>
          <p:nvPr/>
        </p:nvSpPr>
        <p:spPr>
          <a:xfrm>
            <a:off x="731520" y="6217920"/>
            <a:ext cx="10972800" cy="365760"/>
          </a:xfrm>
          <a:prstGeom prst="rect">
            <a:avLst/>
          </a:prstGeom>
          <a:noFill/>
        </p:spPr>
        <p:txBody>
          <a:bodyPr wrap="square" lIns="45720" rIns="45720">
            <a:spAutoFit/>
          </a:bodyPr>
          <a:lstStyle/>
          <a:p>
            <a:pPr algn="l"/>
            <a:r>
              <a:rPr sz="1100" b="0">
                <a:solidFill>
                  <a:srgbClr val="A6AEBA"/>
                </a:solidFill>
                <a:latin typeface="Courier New"/>
              </a:rPr>
              <a:t>Companion doc:  CLAUDE_DEV_EVAL_SUMMARY.md (longer-form, same content)</a:t>
            </a:r>
          </a:p>
        </p:txBody>
      </p:sp>
      <p:sp>
        <p:nvSpPr>
          <p:cNvPr id="39" name="TextBox 38"/>
          <p:cNvSpPr txBox="1"/>
          <p:nvPr/>
        </p:nvSpPr>
        <p:spPr>
          <a:xfrm>
            <a:off x="10515600" y="6492240"/>
            <a:ext cx="1371600" cy="274320"/>
          </a:xfrm>
          <a:prstGeom prst="rect">
            <a:avLst/>
          </a:prstGeom>
          <a:noFill/>
        </p:spPr>
        <p:txBody>
          <a:bodyPr wrap="square" lIns="45720" rIns="45720">
            <a:spAutoFit/>
          </a:bodyPr>
          <a:lstStyle/>
          <a:p>
            <a:pPr algn="r"/>
            <a:r>
              <a:rPr sz="1000" b="0">
                <a:solidFill>
                  <a:srgbClr val="A6AEBA"/>
                </a:solidFill>
                <a:latin typeface="Calibri"/>
              </a:rPr>
              <a:t>14 / 14</a:t>
            </a:r>
          </a:p>
        </p:txBody>
      </p:sp>
      <p:sp>
        <p:nvSpPr>
          <p:cNvPr id="40" name="TextBox 39"/>
          <p:cNvSpPr txBox="1"/>
          <p:nvPr/>
        </p:nvSpPr>
        <p:spPr>
          <a:xfrm>
            <a:off x="457200" y="6492240"/>
            <a:ext cx="7315200" cy="274320"/>
          </a:xfrm>
          <a:prstGeom prst="rect">
            <a:avLst/>
          </a:prstGeom>
          <a:noFill/>
        </p:spPr>
        <p:txBody>
          <a:bodyPr wrap="square" lIns="45720" rIns="45720">
            <a:spAutoFit/>
          </a:bodyPr>
          <a:lstStyle/>
          <a:p>
            <a:pPr algn="l"/>
            <a:r>
              <a:rPr sz="1000" b="0">
                <a:solidFill>
                  <a:srgbClr val="A6AEBA"/>
                </a:solidFill>
                <a:latin typeface="Calibri"/>
              </a:rPr>
              <a:t>Claude dev evaluation — visual-regression loop · 2026-05-19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